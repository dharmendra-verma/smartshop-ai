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64748B"/>
                </a:solidFill>
                <a:latin typeface="Arial"/>
              </a:defRPr>
            </a:pPr>
            <a:r>
              <a:rPr sz="900" b="0" i="0" u="none" strike="noStrike">
                <a:solidFill>
                  <a:srgbClr val="64748B"/>
                </a:solidFill>
                <a:latin typeface="Arial"/>
              </a:rPr>
              <a:t>Test Count Growth by Story</a:t>
            </a:r>
          </a:p>
        </c:rich>
      </c:tx>
      <c:layout/>
      <c:overlay val="0"/>
    </c:title>
    <c:autoTitleDeleted val="0"/>
    <c:plotArea>
      <c:layout/>
      <c:lineChart>
        <c:varyColors val="0"/>
        <c:ser>
          <c:idx val="0"/>
          <c:order val="0"/>
          <c:tx>
            <c:strRef>
              <c:f>Sheet1!$B$1</c:f>
              <c:strCache>
                <c:ptCount val="1"/>
                <c:pt idx="0">
                  <c:v>Tests</c:v>
                </c:pt>
              </c:strCache>
            </c:strRef>
          </c:tx>
          <c:spPr>
            <a:solidFill>
              <a:srgbClr val="02C39A"/>
            </a:solidFill>
            <a:ln w="2540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C39A"/>
              </a:solidFill>
              <a:ln w="9525" cap="flat">
                <a:solidFill>
                  <a:srgbClr val="02C39A"/>
                </a:solidFill>
                <a:prstDash val="solid"/>
                <a:round/>
              </a:ln>
              <a:effectLst/>
            </c:spPr>
          </c:marker>
          <c:cat>
            <c:multiLvlStrRef>
              <c:f>Sheet1!$A$2:$A$16</c:f>
              <c:multiLvlStrCache>
                <c:ptCount val="21"/>
                <c:lvl>
                  <c:pt idx="0">
                    <c:v>S14</c:v>
                  </c:pt>
                  <c:pt idx="1">
                    <c:v/>
                  </c:pt>
                  <c:pt idx="2">
                    <c:v>S16</c:v>
                  </c:pt>
                  <c:pt idx="3">
                    <c:v/>
                  </c:pt>
                  <c:pt idx="4">
                    <c:v>S18</c:v>
                  </c:pt>
                  <c:pt idx="5">
                    <c:v/>
                  </c:pt>
                  <c:pt idx="6">
                    <c:v/>
                  </c:pt>
                  <c:pt idx="7">
                    <c:v>S42</c:v>
                  </c:pt>
                  <c:pt idx="8">
                    <c:v/>
                  </c:pt>
                  <c:pt idx="9">
                    <c:v>S19</c:v>
                  </c:pt>
                  <c:pt idx="10">
                    <c:v/>
                  </c:pt>
                  <c:pt idx="11">
                    <c:v>S20</c:v>
                  </c:pt>
                  <c:pt idx="12">
                    <c:v/>
                  </c:pt>
                  <c:pt idx="13">
                    <c:v>S21</c:v>
                  </c:pt>
                  <c:pt idx="14">
                    <c:v>S64</c:v>
                  </c:pt>
                  <c:pt idx="15">
                    <c:v>S63</c:v>
                  </c:pt>
                  <c:pt idx="16">
                    <c:v>S65</c:v>
                  </c:pt>
                  <c:pt idx="17">
                    <c:v>S66</c:v>
                  </c:pt>
                  <c:pt idx="18">
                    <c:v>S67</c:v>
                  </c:pt>
                  <c:pt idx="19">
                    <c:v>S68</c:v>
                  </c:pt>
                  <c:pt idx="20">
                    <c:v>S69</c:v>
                  </c:pt>
                </c:lvl>
              </c:multiLvlStrCache>
            </c:multiLvlStrRef>
          </c:cat>
          <c:val>
            <c:numRef>
              <c:f>Sheet1!$B$2:$B$16</c:f>
              <c:numCache>
                <c:formatCode>General</c:formatCode>
                <c:ptCount val="21"/>
                <c:pt idx="0">
                  <c:v>222</c:v>
                </c:pt>
                <c:pt idx="1">
                  <c:v>235</c:v>
                </c:pt>
                <c:pt idx="2">
                  <c:v>255</c:v>
                </c:pt>
                <c:pt idx="3">
                  <c:v>269</c:v>
                </c:pt>
                <c:pt idx="4">
                  <c:v>279</c:v>
                </c:pt>
                <c:pt idx="5">
                  <c:v>287</c:v>
                </c:pt>
                <c:pt idx="6">
                  <c:v>295</c:v>
                </c:pt>
                <c:pt idx="7">
                  <c:v>307</c:v>
                </c:pt>
                <c:pt idx="8">
                  <c:v>312</c:v>
                </c:pt>
                <c:pt idx="9">
                  <c:v>341</c:v>
                </c:pt>
                <c:pt idx="10">
                  <c:v>362</c:v>
                </c:pt>
                <c:pt idx="11">
                  <c:v>377</c:v>
                </c:pt>
                <c:pt idx="12">
                  <c:v>390</c:v>
                </c:pt>
                <c:pt idx="13">
                  <c:v>399</c:v>
                </c:pt>
                <c:pt idx="14">
                  <c:v>430</c:v>
                </c:pt>
                <c:pt idx="15">
                  <c:v>444</c:v>
                </c:pt>
                <c:pt idx="16">
                  <c:v>460</c:v>
                </c:pt>
                <c:pt idx="17">
                  <c:v>474</c:v>
                </c:pt>
                <c:pt idx="18">
                  <c:v>486</c:v>
                </c:pt>
                <c:pt idx="19">
                  <c:v>500</c:v>
                </c:pt>
                <c:pt idx="20">
                  <c:v>511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going to walk you through SmartShop AI — an AI-powered multi-agent e-commerce assistant that uses specialized AI agents to help customers discover products, compare prices, read reviews, and understand store policies through natural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e-commerce space has a real problem. 73% of customers abandon purchases due to choice overload. They're opening 5+ tabs trying to compare products, read reviews, and check prices. And current search gives generic results with no personalization. SmartShop AI solves all three of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SmartShop AI is a conversational AI assistant with 5 specialized agents working together. An orchestrator classifies user intent and routes to the right expert agent. Session memory preserves context across the conversation. And it's production-ready with CI/CD, Azure deployment, and 511+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five specialized agents. The Recommendation Agent handles product discovery and comparisons. The Review Agent summarizes customer reviews with sentiment analysis. The Price Agent does real-time price comparison. The Policy Agent uses FAISS vector search — a RAG pipeline — to answer policy questions accurately. And the General agent handles everything else. The orchestrator routes queries to the right agent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it in action. I'll walk through 5 demo scenarios. First, product discovery — asking for budget smartphones under $500. Then review summarization for iPhone 15. Price comparison between Samsung S24 and Pixel 8. A policy question about returns. And finally, follow-up questions showing context memory across the conversation. Let me switch to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architecture. Five layers: The Streamlit frontend with floating chat and product cards. The FastAPI API layer with middleware for request tracking and error handling. The AI agent layer with pydantic-ai — an orchestrator routes by intent to 5 specialized agents. The data layer with PostgreSQL, Redis for caching, and FAISS for vector search. And the DevOps layer with GitHub Actions CI/CD deploying to Azure Container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FastAPI for the high-performance async API. pydantic-ai for type-safe AI agents. GPT-4o-mini as the LLM. FAISS for vector similarity search powering our policy RAG pipeline. PostgreSQL and Redis for data and caching. Azure Container Apps for production hosting. 511+ tests with pytest. And GitHub Actions for the full CI/CD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share some key metrics. We have 511+ unit tests providing comprehensive coverage. 29 user stories shipped across 5 sprints. 5 specialized AI agents. And sub-200ms average latency. You can see the test count growing steadily — we maintained discipline of adding 10-20 tests per story throughout the project. The final hardening phase added 81 tests focused on logging, DB health, DRY refactoring, SQL optimization, AI routing accuracy, and error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across 4 phases plus a hardening phase. Phase 1 built the foundation — catalog, API, agents, UI. Phase 2 added intelligence — orchestrator, session memory, error handling. Phase 3 focused on polish — UI enhancements, inline reviews, product comparison. And Phase 4 covers production readiness and hardening — CI/CD, Azure deployment, file logging with rotation, DB health checks, DRY code refactoring, SQL query optimization, AI routing accuracy improvements, and error handling hardening. All phases are now complete with 511+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addressed key risks. For LLM reliability, we have a circuit breaker pattern with graceful fallback to cached responses, plus confidence gating that routes low-confidence classifications to the general agent. For performance, a dual-backend cache with Redis primary and in-memory fallback, plus SQL query optimization combining 3 queries into 1. For security, request correlation, structured errors, DB connectivity monitoring with masked host logging, and Azure Key Vault. And for scalability, Azure Container Apps with auto-scaling and Redis-backed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happy to take any questions about the architecture, the AI agents, our deployment strategy, or anything else about SmartShop AI. You can also reach me at to.dharmendra.verma@gmail.com.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2E"/>
        </a:solidFill>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065A82">
              <a:alpha val="60000"/>
            </a:srgbClr>
          </a:solidFill>
          <a:ln/>
        </p:spPr>
      </p:sp>
      <p:sp>
        <p:nvSpPr>
          <p:cNvPr id="3" name="Shape 1"/>
          <p:cNvSpPr/>
          <p:nvPr/>
        </p:nvSpPr>
        <p:spPr>
          <a:xfrm>
            <a:off x="7772400" y="2286000"/>
            <a:ext cx="2743200" cy="2743200"/>
          </a:xfrm>
          <a:prstGeom prst="ellipse">
            <a:avLst/>
          </a:prstGeom>
          <a:solidFill>
            <a:srgbClr val="1C7293">
              <a:alpha val="50000"/>
            </a:srgbClr>
          </a:solidFill>
          <a:ln/>
        </p:spPr>
      </p:sp>
      <p:pic>
        <p:nvPicPr>
          <p:cNvPr id="4" name="Image 0" descr="preencoded.png"/>
          <p:cNvPicPr>
            <a:picLocks noChangeAspect="1"/>
          </p:cNvPicPr>
          <p:nvPr/>
        </p:nvPicPr>
        <p:blipFill>
          <a:blip r:embed="rId1"/>
          <a:stretch>
            <a:fillRect/>
          </a:stretch>
        </p:blipFill>
        <p:spPr>
          <a:xfrm>
            <a:off x="731520" y="731520"/>
            <a:ext cx="640080" cy="640080"/>
          </a:xfrm>
          <a:prstGeom prst="rect">
            <a:avLst/>
          </a:prstGeom>
        </p:spPr>
      </p:pic>
      <p:sp>
        <p:nvSpPr>
          <p:cNvPr id="5" name="Text 2"/>
          <p:cNvSpPr/>
          <p:nvPr/>
        </p:nvSpPr>
        <p:spPr>
          <a:xfrm>
            <a:off x="731520" y="1463040"/>
            <a:ext cx="6400800" cy="109728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SmartShop AI</a:t>
            </a:r>
            <a:endParaRPr lang="en-US" sz="4400" dirty="0"/>
          </a:p>
        </p:txBody>
      </p:sp>
      <p:sp>
        <p:nvSpPr>
          <p:cNvPr id="6" name="Text 3"/>
          <p:cNvSpPr/>
          <p:nvPr/>
        </p:nvSpPr>
        <p:spPr>
          <a:xfrm>
            <a:off x="731520" y="2468880"/>
            <a:ext cx="6400800" cy="548640"/>
          </a:xfrm>
          <a:prstGeom prst="rect">
            <a:avLst/>
          </a:prstGeom>
          <a:noFill/>
          <a:ln/>
        </p:spPr>
        <p:txBody>
          <a:bodyPr wrap="square" lIns="0" tIns="0" rIns="0" bIns="0" rtlCol="0" anchor="ctr"/>
          <a:lstStyle/>
          <a:p>
            <a:pPr indent="0" marL="0">
              <a:buNone/>
            </a:pPr>
            <a:r>
              <a:rPr lang="en-US" sz="2000" dirty="0">
                <a:solidFill>
                  <a:srgbClr val="02C39A"/>
                </a:solidFill>
                <a:latin typeface="Calibri" pitchFamily="34" charset="0"/>
                <a:ea typeface="Calibri" pitchFamily="34" charset="-122"/>
                <a:cs typeface="Calibri" pitchFamily="34" charset="-120"/>
              </a:rPr>
              <a:t>AI-Powered Multi-Agent E-Commerce Assistant</a:t>
            </a:r>
            <a:endParaRPr lang="en-US" sz="2000" dirty="0"/>
          </a:p>
        </p:txBody>
      </p:sp>
      <p:sp>
        <p:nvSpPr>
          <p:cNvPr id="7" name="Shape 4"/>
          <p:cNvSpPr/>
          <p:nvPr/>
        </p:nvSpPr>
        <p:spPr>
          <a:xfrm>
            <a:off x="731520" y="3200400"/>
            <a:ext cx="1828800" cy="36576"/>
          </a:xfrm>
          <a:prstGeom prst="rect">
            <a:avLst/>
          </a:prstGeom>
          <a:solidFill>
            <a:srgbClr val="02C39A"/>
          </a:solidFill>
          <a:ln/>
        </p:spPr>
      </p:sp>
      <p:sp>
        <p:nvSpPr>
          <p:cNvPr id="8" name="Text 5"/>
          <p:cNvSpPr/>
          <p:nvPr/>
        </p:nvSpPr>
        <p:spPr>
          <a:xfrm>
            <a:off x="731520" y="3474720"/>
            <a:ext cx="5486400" cy="73152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Dharmendra Verma</a:t>
            </a:r>
            <a:endParaRPr lang="en-US" sz="1400" dirty="0"/>
          </a:p>
          <a:p>
            <a:pPr indent="0" marL="0">
              <a:buNone/>
            </a:pPr>
            <a:r>
              <a:rPr lang="en-US" sz="1200" dirty="0">
                <a:solidFill>
                  <a:srgbClr val="64748B"/>
                </a:solidFill>
                <a:latin typeface="Calibri" pitchFamily="34" charset="0"/>
                <a:ea typeface="Calibri" pitchFamily="34" charset="-122"/>
                <a:cs typeface="Calibri" pitchFamily="34" charset="-120"/>
              </a:rPr>
              <a:t>Product Demo &amp; Technical Overview</a:t>
            </a:r>
            <a:endParaRPr lang="en-US" sz="1400" dirty="0"/>
          </a:p>
        </p:txBody>
      </p:sp>
      <p:sp>
        <p:nvSpPr>
          <p:cNvPr id="9" name="Text 6"/>
          <p:cNvSpPr/>
          <p:nvPr/>
        </p:nvSpPr>
        <p:spPr>
          <a:xfrm>
            <a:off x="731520" y="4389120"/>
            <a:ext cx="27432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The Problem</a:t>
            </a:r>
            <a:endParaRPr lang="en-US" sz="3600" dirty="0"/>
          </a:p>
        </p:txBody>
      </p:sp>
      <p:sp>
        <p:nvSpPr>
          <p:cNvPr id="3" name="Shape 1"/>
          <p:cNvSpPr/>
          <p:nvPr/>
        </p:nvSpPr>
        <p:spPr>
          <a:xfrm>
            <a:off x="731520" y="1280160"/>
            <a:ext cx="2560320" cy="3474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Shape 2"/>
          <p:cNvSpPr/>
          <p:nvPr/>
        </p:nvSpPr>
        <p:spPr>
          <a:xfrm>
            <a:off x="731520" y="1280160"/>
            <a:ext cx="2560320" cy="54864"/>
          </a:xfrm>
          <a:prstGeom prst="rect">
            <a:avLst/>
          </a:prstGeom>
          <a:solidFill>
            <a:srgbClr val="02C39A"/>
          </a:solidFill>
          <a:ln/>
        </p:spPr>
      </p:sp>
      <p:sp>
        <p:nvSpPr>
          <p:cNvPr id="5" name="Text 3"/>
          <p:cNvSpPr/>
          <p:nvPr/>
        </p:nvSpPr>
        <p:spPr>
          <a:xfrm>
            <a:off x="1005840" y="1554480"/>
            <a:ext cx="18288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73%</a:t>
            </a:r>
            <a:endParaRPr lang="en-US" sz="3600" dirty="0"/>
          </a:p>
        </p:txBody>
      </p:sp>
      <p:sp>
        <p:nvSpPr>
          <p:cNvPr id="6" name="Text 4"/>
          <p:cNvSpPr/>
          <p:nvPr/>
        </p:nvSpPr>
        <p:spPr>
          <a:xfrm>
            <a:off x="1005840" y="2103120"/>
            <a:ext cx="201168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abandon due to choice overload</a:t>
            </a:r>
            <a:endParaRPr lang="en-US" sz="1000" dirty="0"/>
          </a:p>
        </p:txBody>
      </p:sp>
      <p:sp>
        <p:nvSpPr>
          <p:cNvPr id="7" name="Text 5"/>
          <p:cNvSpPr/>
          <p:nvPr/>
        </p:nvSpPr>
        <p:spPr>
          <a:xfrm>
            <a:off x="1005840" y="2651760"/>
            <a:ext cx="2011680" cy="45720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Information Overload</a:t>
            </a:r>
            <a:endParaRPr lang="en-US" sz="1400" dirty="0"/>
          </a:p>
        </p:txBody>
      </p:sp>
      <p:sp>
        <p:nvSpPr>
          <p:cNvPr id="8" name="Text 6"/>
          <p:cNvSpPr/>
          <p:nvPr/>
        </p:nvSpPr>
        <p:spPr>
          <a:xfrm>
            <a:off x="1005840" y="3108960"/>
            <a:ext cx="2011680" cy="10972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Customers wade through hundreds of products, reviews, and specs to make a single purchase decision</a:t>
            </a:r>
            <a:endParaRPr lang="en-US" sz="1100" dirty="0"/>
          </a:p>
        </p:txBody>
      </p:sp>
      <p:sp>
        <p:nvSpPr>
          <p:cNvPr id="9" name="Shape 7"/>
          <p:cNvSpPr/>
          <p:nvPr/>
        </p:nvSpPr>
        <p:spPr>
          <a:xfrm>
            <a:off x="3520440" y="1280160"/>
            <a:ext cx="2560320" cy="3474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Shape 8"/>
          <p:cNvSpPr/>
          <p:nvPr/>
        </p:nvSpPr>
        <p:spPr>
          <a:xfrm>
            <a:off x="3520440" y="1280160"/>
            <a:ext cx="2560320" cy="54864"/>
          </a:xfrm>
          <a:prstGeom prst="rect">
            <a:avLst/>
          </a:prstGeom>
          <a:solidFill>
            <a:srgbClr val="02C39A"/>
          </a:solidFill>
          <a:ln/>
        </p:spPr>
      </p:sp>
      <p:sp>
        <p:nvSpPr>
          <p:cNvPr id="11" name="Text 9"/>
          <p:cNvSpPr/>
          <p:nvPr/>
        </p:nvSpPr>
        <p:spPr>
          <a:xfrm>
            <a:off x="3794760" y="1554480"/>
            <a:ext cx="18288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5+</a:t>
            </a:r>
            <a:endParaRPr lang="en-US" sz="3600" dirty="0"/>
          </a:p>
        </p:txBody>
      </p:sp>
      <p:sp>
        <p:nvSpPr>
          <p:cNvPr id="12" name="Text 10"/>
          <p:cNvSpPr/>
          <p:nvPr/>
        </p:nvSpPr>
        <p:spPr>
          <a:xfrm>
            <a:off x="3794760" y="2103120"/>
            <a:ext cx="201168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tabs open during product research</a:t>
            </a:r>
            <a:endParaRPr lang="en-US" sz="1000" dirty="0"/>
          </a:p>
        </p:txBody>
      </p:sp>
      <p:sp>
        <p:nvSpPr>
          <p:cNvPr id="13" name="Text 11"/>
          <p:cNvSpPr/>
          <p:nvPr/>
        </p:nvSpPr>
        <p:spPr>
          <a:xfrm>
            <a:off x="3794760" y="2651760"/>
            <a:ext cx="2011680" cy="45720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Fragmented Experience</a:t>
            </a:r>
            <a:endParaRPr lang="en-US" sz="1400" dirty="0"/>
          </a:p>
        </p:txBody>
      </p:sp>
      <p:sp>
        <p:nvSpPr>
          <p:cNvPr id="14" name="Text 12"/>
          <p:cNvSpPr/>
          <p:nvPr/>
        </p:nvSpPr>
        <p:spPr>
          <a:xfrm>
            <a:off x="3794760" y="3108960"/>
            <a:ext cx="2011680" cy="10972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Users switch between product pages, review sites, and price trackers — no unified assistant</a:t>
            </a:r>
            <a:endParaRPr lang="en-US" sz="1100" dirty="0"/>
          </a:p>
        </p:txBody>
      </p:sp>
      <p:sp>
        <p:nvSpPr>
          <p:cNvPr id="15" name="Shape 13"/>
          <p:cNvSpPr/>
          <p:nvPr/>
        </p:nvSpPr>
        <p:spPr>
          <a:xfrm>
            <a:off x="6309360" y="1280160"/>
            <a:ext cx="2560320" cy="3474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6" name="Shape 14"/>
          <p:cNvSpPr/>
          <p:nvPr/>
        </p:nvSpPr>
        <p:spPr>
          <a:xfrm>
            <a:off x="6309360" y="1280160"/>
            <a:ext cx="2560320" cy="54864"/>
          </a:xfrm>
          <a:prstGeom prst="rect">
            <a:avLst/>
          </a:prstGeom>
          <a:solidFill>
            <a:srgbClr val="02C39A"/>
          </a:solidFill>
          <a:ln/>
        </p:spPr>
      </p:sp>
      <p:sp>
        <p:nvSpPr>
          <p:cNvPr id="17" name="Text 15"/>
          <p:cNvSpPr/>
          <p:nvPr/>
        </p:nvSpPr>
        <p:spPr>
          <a:xfrm>
            <a:off x="6583680" y="1554480"/>
            <a:ext cx="18288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68%</a:t>
            </a:r>
            <a:endParaRPr lang="en-US" sz="3600" dirty="0"/>
          </a:p>
        </p:txBody>
      </p:sp>
      <p:sp>
        <p:nvSpPr>
          <p:cNvPr id="18" name="Text 16"/>
          <p:cNvSpPr/>
          <p:nvPr/>
        </p:nvSpPr>
        <p:spPr>
          <a:xfrm>
            <a:off x="6583680" y="2103120"/>
            <a:ext cx="201168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want personalized recommendations</a:t>
            </a:r>
            <a:endParaRPr lang="en-US" sz="1000" dirty="0"/>
          </a:p>
        </p:txBody>
      </p:sp>
      <p:sp>
        <p:nvSpPr>
          <p:cNvPr id="19" name="Text 17"/>
          <p:cNvSpPr/>
          <p:nvPr/>
        </p:nvSpPr>
        <p:spPr>
          <a:xfrm>
            <a:off x="6583680" y="2651760"/>
            <a:ext cx="2011680" cy="45720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No Personalization</a:t>
            </a:r>
            <a:endParaRPr lang="en-US" sz="1400" dirty="0"/>
          </a:p>
        </p:txBody>
      </p:sp>
      <p:sp>
        <p:nvSpPr>
          <p:cNvPr id="20" name="Text 18"/>
          <p:cNvSpPr/>
          <p:nvPr/>
        </p:nvSpPr>
        <p:spPr>
          <a:xfrm>
            <a:off x="6583680" y="3108960"/>
            <a:ext cx="2011680" cy="109728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Generic search returns generic results — no understanding of user preferences or context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Our Solution</a:t>
            </a:r>
            <a:endParaRPr lang="en-US" sz="3600" dirty="0"/>
          </a:p>
        </p:txBody>
      </p:sp>
      <p:sp>
        <p:nvSpPr>
          <p:cNvPr id="3" name="Text 1"/>
          <p:cNvSpPr/>
          <p:nvPr/>
        </p:nvSpPr>
        <p:spPr>
          <a:xfrm>
            <a:off x="731520" y="1005840"/>
            <a:ext cx="7680960" cy="5486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One conversational AI that understands what you need, routes to specialized agents, and delivers expert answers in real time.</a:t>
            </a:r>
            <a:endParaRPr lang="en-US" sz="1400" dirty="0"/>
          </a:p>
        </p:txBody>
      </p:sp>
      <p:sp>
        <p:nvSpPr>
          <p:cNvPr id="4" name="Shape 2"/>
          <p:cNvSpPr/>
          <p:nvPr/>
        </p:nvSpPr>
        <p:spPr>
          <a:xfrm>
            <a:off x="731520" y="1828800"/>
            <a:ext cx="502920" cy="502920"/>
          </a:xfrm>
          <a:prstGeom prst="ellipse">
            <a:avLst/>
          </a:prstGeom>
          <a:solidFill>
            <a:srgbClr val="F0F7FA"/>
          </a:solidFill>
          <a:ln/>
        </p:spPr>
      </p:sp>
      <p:pic>
        <p:nvPicPr>
          <p:cNvPr id="5" name="Image 0" descr="preencoded.png"/>
          <p:cNvPicPr>
            <a:picLocks noChangeAspect="1"/>
          </p:cNvPicPr>
          <p:nvPr/>
        </p:nvPicPr>
        <p:blipFill>
          <a:blip r:embed="rId1"/>
          <a:stretch>
            <a:fillRect/>
          </a:stretch>
        </p:blipFill>
        <p:spPr>
          <a:xfrm>
            <a:off x="822960" y="1920240"/>
            <a:ext cx="320040" cy="320040"/>
          </a:xfrm>
          <a:prstGeom prst="rect">
            <a:avLst/>
          </a:prstGeom>
        </p:spPr>
      </p:pic>
      <p:sp>
        <p:nvSpPr>
          <p:cNvPr id="6" name="Text 3"/>
          <p:cNvSpPr/>
          <p:nvPr/>
        </p:nvSpPr>
        <p:spPr>
          <a:xfrm>
            <a:off x="1417320" y="1783080"/>
            <a:ext cx="32004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Multi-Agent Intelligence</a:t>
            </a:r>
            <a:endParaRPr lang="en-US" sz="1500" dirty="0"/>
          </a:p>
        </p:txBody>
      </p:sp>
      <p:sp>
        <p:nvSpPr>
          <p:cNvPr id="7" name="Text 4"/>
          <p:cNvSpPr/>
          <p:nvPr/>
        </p:nvSpPr>
        <p:spPr>
          <a:xfrm>
            <a:off x="1417320" y="2103120"/>
            <a:ext cx="32004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5 specialized AI agents work together — each an expert in its domain</a:t>
            </a:r>
            <a:endParaRPr lang="en-US" sz="1100" dirty="0"/>
          </a:p>
        </p:txBody>
      </p:sp>
      <p:sp>
        <p:nvSpPr>
          <p:cNvPr id="8" name="Shape 5"/>
          <p:cNvSpPr/>
          <p:nvPr/>
        </p:nvSpPr>
        <p:spPr>
          <a:xfrm>
            <a:off x="4937760" y="1828800"/>
            <a:ext cx="502920" cy="502920"/>
          </a:xfrm>
          <a:prstGeom prst="ellipse">
            <a:avLst/>
          </a:prstGeom>
          <a:solidFill>
            <a:srgbClr val="F0F7FA"/>
          </a:solidFill>
          <a:ln/>
        </p:spPr>
      </p:sp>
      <p:pic>
        <p:nvPicPr>
          <p:cNvPr id="9" name="Image 1" descr="preencoded.png"/>
          <p:cNvPicPr>
            <a:picLocks noChangeAspect="1"/>
          </p:cNvPicPr>
          <p:nvPr/>
        </p:nvPicPr>
        <p:blipFill>
          <a:blip r:embed="rId2"/>
          <a:stretch>
            <a:fillRect/>
          </a:stretch>
        </p:blipFill>
        <p:spPr>
          <a:xfrm>
            <a:off x="5029200" y="1920240"/>
            <a:ext cx="320040" cy="320040"/>
          </a:xfrm>
          <a:prstGeom prst="rect">
            <a:avLst/>
          </a:prstGeom>
        </p:spPr>
      </p:pic>
      <p:sp>
        <p:nvSpPr>
          <p:cNvPr id="10" name="Text 6"/>
          <p:cNvSpPr/>
          <p:nvPr/>
        </p:nvSpPr>
        <p:spPr>
          <a:xfrm>
            <a:off x="5623560" y="1783080"/>
            <a:ext cx="32004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Real-Time Responses</a:t>
            </a:r>
            <a:endParaRPr lang="en-US" sz="1500" dirty="0"/>
          </a:p>
        </p:txBody>
      </p:sp>
      <p:sp>
        <p:nvSpPr>
          <p:cNvPr id="11" name="Text 7"/>
          <p:cNvSpPr/>
          <p:nvPr/>
        </p:nvSpPr>
        <p:spPr>
          <a:xfrm>
            <a:off x="5623560" y="2103120"/>
            <a:ext cx="32004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Intent classification routes queries to the right agent in milliseconds</a:t>
            </a:r>
            <a:endParaRPr lang="en-US" sz="1100" dirty="0"/>
          </a:p>
        </p:txBody>
      </p:sp>
      <p:sp>
        <p:nvSpPr>
          <p:cNvPr id="12" name="Shape 8"/>
          <p:cNvSpPr/>
          <p:nvPr/>
        </p:nvSpPr>
        <p:spPr>
          <a:xfrm>
            <a:off x="731520" y="3291840"/>
            <a:ext cx="502920" cy="502920"/>
          </a:xfrm>
          <a:prstGeom prst="ellipse">
            <a:avLst/>
          </a:prstGeom>
          <a:solidFill>
            <a:srgbClr val="F0F7FA"/>
          </a:solidFill>
          <a:ln/>
        </p:spPr>
      </p:sp>
      <p:pic>
        <p:nvPicPr>
          <p:cNvPr id="13" name="Image 2" descr="preencoded.png"/>
          <p:cNvPicPr>
            <a:picLocks noChangeAspect="1"/>
          </p:cNvPicPr>
          <p:nvPr/>
        </p:nvPicPr>
        <p:blipFill>
          <a:blip r:embed="rId3"/>
          <a:stretch>
            <a:fillRect/>
          </a:stretch>
        </p:blipFill>
        <p:spPr>
          <a:xfrm>
            <a:off x="822960" y="3383280"/>
            <a:ext cx="320040" cy="320040"/>
          </a:xfrm>
          <a:prstGeom prst="rect">
            <a:avLst/>
          </a:prstGeom>
        </p:spPr>
      </p:pic>
      <p:sp>
        <p:nvSpPr>
          <p:cNvPr id="14" name="Text 9"/>
          <p:cNvSpPr/>
          <p:nvPr/>
        </p:nvSpPr>
        <p:spPr>
          <a:xfrm>
            <a:off x="1417320" y="3246120"/>
            <a:ext cx="32004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Natural Conversation</a:t>
            </a:r>
            <a:endParaRPr lang="en-US" sz="1500" dirty="0"/>
          </a:p>
        </p:txBody>
      </p:sp>
      <p:sp>
        <p:nvSpPr>
          <p:cNvPr id="15" name="Text 10"/>
          <p:cNvSpPr/>
          <p:nvPr/>
        </p:nvSpPr>
        <p:spPr>
          <a:xfrm>
            <a:off x="1417320" y="3566160"/>
            <a:ext cx="32004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Session memory preserves context for multi-turn dialogues</a:t>
            </a:r>
            <a:endParaRPr lang="en-US" sz="1100" dirty="0"/>
          </a:p>
        </p:txBody>
      </p:sp>
      <p:sp>
        <p:nvSpPr>
          <p:cNvPr id="16" name="Shape 11"/>
          <p:cNvSpPr/>
          <p:nvPr/>
        </p:nvSpPr>
        <p:spPr>
          <a:xfrm>
            <a:off x="4937760" y="3291840"/>
            <a:ext cx="502920" cy="502920"/>
          </a:xfrm>
          <a:prstGeom prst="ellipse">
            <a:avLst/>
          </a:prstGeom>
          <a:solidFill>
            <a:srgbClr val="F0F7FA"/>
          </a:solidFill>
          <a:ln/>
        </p:spPr>
      </p:sp>
      <p:pic>
        <p:nvPicPr>
          <p:cNvPr id="17" name="Image 3" descr="preencoded.png"/>
          <p:cNvPicPr>
            <a:picLocks noChangeAspect="1"/>
          </p:cNvPicPr>
          <p:nvPr/>
        </p:nvPicPr>
        <p:blipFill>
          <a:blip r:embed="rId4"/>
          <a:stretch>
            <a:fillRect/>
          </a:stretch>
        </p:blipFill>
        <p:spPr>
          <a:xfrm>
            <a:off x="5029200" y="3383280"/>
            <a:ext cx="320040" cy="320040"/>
          </a:xfrm>
          <a:prstGeom prst="rect">
            <a:avLst/>
          </a:prstGeom>
        </p:spPr>
      </p:pic>
      <p:sp>
        <p:nvSpPr>
          <p:cNvPr id="18" name="Text 12"/>
          <p:cNvSpPr/>
          <p:nvPr/>
        </p:nvSpPr>
        <p:spPr>
          <a:xfrm>
            <a:off x="5623560" y="3246120"/>
            <a:ext cx="32004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Production Ready</a:t>
            </a:r>
            <a:endParaRPr lang="en-US" sz="1500" dirty="0"/>
          </a:p>
        </p:txBody>
      </p:sp>
      <p:sp>
        <p:nvSpPr>
          <p:cNvPr id="19" name="Text 13"/>
          <p:cNvSpPr/>
          <p:nvPr/>
        </p:nvSpPr>
        <p:spPr>
          <a:xfrm>
            <a:off x="5623560" y="3566160"/>
            <a:ext cx="32004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CI/CD pipeline, Azure deployment, Redis caching, comprehensive tests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2E"/>
        </a:solidFill>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Five Specialized Agents</a:t>
            </a:r>
            <a:endParaRPr lang="en-US" sz="3600" dirty="0"/>
          </a:p>
        </p:txBody>
      </p:sp>
      <p:sp>
        <p:nvSpPr>
          <p:cNvPr id="3" name="Shape 1"/>
          <p:cNvSpPr/>
          <p:nvPr/>
        </p:nvSpPr>
        <p:spPr>
          <a:xfrm>
            <a:off x="731520" y="1097280"/>
            <a:ext cx="457200" cy="457200"/>
          </a:xfrm>
          <a:prstGeom prst="ellipse">
            <a:avLst/>
          </a:prstGeom>
          <a:solidFill>
            <a:srgbClr val="0891B2"/>
          </a:solidFill>
          <a:ln/>
        </p:spPr>
      </p:sp>
      <p:pic>
        <p:nvPicPr>
          <p:cNvPr id="4" name="Image 0" descr="preencoded.png"/>
          <p:cNvPicPr>
            <a:picLocks noChangeAspect="1"/>
          </p:cNvPicPr>
          <p:nvPr/>
        </p:nvPicPr>
        <p:blipFill>
          <a:blip r:embed="rId1"/>
          <a:stretch>
            <a:fillRect/>
          </a:stretch>
        </p:blipFill>
        <p:spPr>
          <a:xfrm>
            <a:off x="804672" y="1170432"/>
            <a:ext cx="310896" cy="310896"/>
          </a:xfrm>
          <a:prstGeom prst="rect">
            <a:avLst/>
          </a:prstGeom>
        </p:spPr>
      </p:pic>
      <p:sp>
        <p:nvSpPr>
          <p:cNvPr id="5" name="Text 2"/>
          <p:cNvSpPr/>
          <p:nvPr/>
        </p:nvSpPr>
        <p:spPr>
          <a:xfrm>
            <a:off x="1417320" y="1069848"/>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Recommendation</a:t>
            </a:r>
            <a:endParaRPr lang="en-US" sz="1500" dirty="0"/>
          </a:p>
        </p:txBody>
      </p:sp>
      <p:sp>
        <p:nvSpPr>
          <p:cNvPr id="6" name="Text 3"/>
          <p:cNvSpPr/>
          <p:nvPr/>
        </p:nvSpPr>
        <p:spPr>
          <a:xfrm>
            <a:off x="1417320" y="1325880"/>
            <a:ext cx="4114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Product discovery, comparisons, and personalized suggestions</a:t>
            </a:r>
            <a:endParaRPr lang="en-US" sz="1100" dirty="0"/>
          </a:p>
        </p:txBody>
      </p:sp>
      <p:sp>
        <p:nvSpPr>
          <p:cNvPr id="7" name="Shape 4"/>
          <p:cNvSpPr/>
          <p:nvPr/>
        </p:nvSpPr>
        <p:spPr>
          <a:xfrm>
            <a:off x="731520" y="1847088"/>
            <a:ext cx="457200" cy="457200"/>
          </a:xfrm>
          <a:prstGeom prst="ellipse">
            <a:avLst/>
          </a:prstGeom>
          <a:solidFill>
            <a:srgbClr val="059669"/>
          </a:solidFill>
          <a:ln/>
        </p:spPr>
      </p:sp>
      <p:pic>
        <p:nvPicPr>
          <p:cNvPr id="8" name="Image 1" descr="preencoded.png"/>
          <p:cNvPicPr>
            <a:picLocks noChangeAspect="1"/>
          </p:cNvPicPr>
          <p:nvPr/>
        </p:nvPicPr>
        <p:blipFill>
          <a:blip r:embed="rId2"/>
          <a:stretch>
            <a:fillRect/>
          </a:stretch>
        </p:blipFill>
        <p:spPr>
          <a:xfrm>
            <a:off x="804672" y="1920240"/>
            <a:ext cx="310896" cy="310896"/>
          </a:xfrm>
          <a:prstGeom prst="rect">
            <a:avLst/>
          </a:prstGeom>
        </p:spPr>
      </p:pic>
      <p:sp>
        <p:nvSpPr>
          <p:cNvPr id="9" name="Text 5"/>
          <p:cNvSpPr/>
          <p:nvPr/>
        </p:nvSpPr>
        <p:spPr>
          <a:xfrm>
            <a:off x="1417320" y="1819656"/>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Review Summary</a:t>
            </a:r>
            <a:endParaRPr lang="en-US" sz="1500" dirty="0"/>
          </a:p>
        </p:txBody>
      </p:sp>
      <p:sp>
        <p:nvSpPr>
          <p:cNvPr id="10" name="Text 6"/>
          <p:cNvSpPr/>
          <p:nvPr/>
        </p:nvSpPr>
        <p:spPr>
          <a:xfrm>
            <a:off x="1417320" y="2075688"/>
            <a:ext cx="4114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Summarizes customer reviews with sentiment analysis</a:t>
            </a:r>
            <a:endParaRPr lang="en-US" sz="1100" dirty="0"/>
          </a:p>
        </p:txBody>
      </p:sp>
      <p:sp>
        <p:nvSpPr>
          <p:cNvPr id="11" name="Shape 7"/>
          <p:cNvSpPr/>
          <p:nvPr/>
        </p:nvSpPr>
        <p:spPr>
          <a:xfrm>
            <a:off x="731520" y="2596896"/>
            <a:ext cx="457200" cy="457200"/>
          </a:xfrm>
          <a:prstGeom prst="ellipse">
            <a:avLst/>
          </a:prstGeom>
          <a:solidFill>
            <a:srgbClr val="D97706"/>
          </a:solidFill>
          <a:ln/>
        </p:spPr>
      </p:sp>
      <p:pic>
        <p:nvPicPr>
          <p:cNvPr id="12" name="Image 2" descr="preencoded.png"/>
          <p:cNvPicPr>
            <a:picLocks noChangeAspect="1"/>
          </p:cNvPicPr>
          <p:nvPr/>
        </p:nvPicPr>
        <p:blipFill>
          <a:blip r:embed="rId3"/>
          <a:stretch>
            <a:fillRect/>
          </a:stretch>
        </p:blipFill>
        <p:spPr>
          <a:xfrm>
            <a:off x="804672" y="2670048"/>
            <a:ext cx="310896" cy="310896"/>
          </a:xfrm>
          <a:prstGeom prst="rect">
            <a:avLst/>
          </a:prstGeom>
        </p:spPr>
      </p:pic>
      <p:sp>
        <p:nvSpPr>
          <p:cNvPr id="13" name="Text 8"/>
          <p:cNvSpPr/>
          <p:nvPr/>
        </p:nvSpPr>
        <p:spPr>
          <a:xfrm>
            <a:off x="1417320" y="2569464"/>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Price Comparison</a:t>
            </a:r>
            <a:endParaRPr lang="en-US" sz="1500" dirty="0"/>
          </a:p>
        </p:txBody>
      </p:sp>
      <p:sp>
        <p:nvSpPr>
          <p:cNvPr id="14" name="Text 9"/>
          <p:cNvSpPr/>
          <p:nvPr/>
        </p:nvSpPr>
        <p:spPr>
          <a:xfrm>
            <a:off x="1417320" y="2825496"/>
            <a:ext cx="4114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Real-time price tracking and competitive analysis</a:t>
            </a:r>
            <a:endParaRPr lang="en-US" sz="1100" dirty="0"/>
          </a:p>
        </p:txBody>
      </p:sp>
      <p:sp>
        <p:nvSpPr>
          <p:cNvPr id="15" name="Shape 10"/>
          <p:cNvSpPr/>
          <p:nvPr/>
        </p:nvSpPr>
        <p:spPr>
          <a:xfrm>
            <a:off x="731520" y="3346704"/>
            <a:ext cx="457200" cy="457200"/>
          </a:xfrm>
          <a:prstGeom prst="ellipse">
            <a:avLst/>
          </a:prstGeom>
          <a:solidFill>
            <a:srgbClr val="7C3AED"/>
          </a:solidFill>
          <a:ln/>
        </p:spPr>
      </p:sp>
      <p:pic>
        <p:nvPicPr>
          <p:cNvPr id="16" name="Image 3" descr="preencoded.png"/>
          <p:cNvPicPr>
            <a:picLocks noChangeAspect="1"/>
          </p:cNvPicPr>
          <p:nvPr/>
        </p:nvPicPr>
        <p:blipFill>
          <a:blip r:embed="rId4"/>
          <a:stretch>
            <a:fillRect/>
          </a:stretch>
        </p:blipFill>
        <p:spPr>
          <a:xfrm>
            <a:off x="804672" y="3419856"/>
            <a:ext cx="310896" cy="310896"/>
          </a:xfrm>
          <a:prstGeom prst="rect">
            <a:avLst/>
          </a:prstGeom>
        </p:spPr>
      </p:pic>
      <p:sp>
        <p:nvSpPr>
          <p:cNvPr id="17" name="Text 11"/>
          <p:cNvSpPr/>
          <p:nvPr/>
        </p:nvSpPr>
        <p:spPr>
          <a:xfrm>
            <a:off x="1417320" y="3319272"/>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Policy (RAG)</a:t>
            </a:r>
            <a:endParaRPr lang="en-US" sz="1500" dirty="0"/>
          </a:p>
        </p:txBody>
      </p:sp>
      <p:sp>
        <p:nvSpPr>
          <p:cNvPr id="18" name="Text 12"/>
          <p:cNvSpPr/>
          <p:nvPr/>
        </p:nvSpPr>
        <p:spPr>
          <a:xfrm>
            <a:off x="1417320" y="3575304"/>
            <a:ext cx="4114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FAISS vector search over store policies for accurate answers</a:t>
            </a:r>
            <a:endParaRPr lang="en-US" sz="1100" dirty="0"/>
          </a:p>
        </p:txBody>
      </p:sp>
      <p:sp>
        <p:nvSpPr>
          <p:cNvPr id="19" name="Shape 13"/>
          <p:cNvSpPr/>
          <p:nvPr/>
        </p:nvSpPr>
        <p:spPr>
          <a:xfrm>
            <a:off x="731520" y="4096512"/>
            <a:ext cx="457200" cy="457200"/>
          </a:xfrm>
          <a:prstGeom prst="ellipse">
            <a:avLst/>
          </a:prstGeom>
          <a:solidFill>
            <a:srgbClr val="DC2626"/>
          </a:solidFill>
          <a:ln/>
        </p:spPr>
      </p:sp>
      <p:pic>
        <p:nvPicPr>
          <p:cNvPr id="20" name="Image 4" descr="preencoded.png"/>
          <p:cNvPicPr>
            <a:picLocks noChangeAspect="1"/>
          </p:cNvPicPr>
          <p:nvPr/>
        </p:nvPicPr>
        <p:blipFill>
          <a:blip r:embed="rId5"/>
          <a:stretch>
            <a:fillRect/>
          </a:stretch>
        </p:blipFill>
        <p:spPr>
          <a:xfrm>
            <a:off x="804672" y="4169664"/>
            <a:ext cx="310896" cy="310896"/>
          </a:xfrm>
          <a:prstGeom prst="rect">
            <a:avLst/>
          </a:prstGeom>
        </p:spPr>
      </p:pic>
      <p:sp>
        <p:nvSpPr>
          <p:cNvPr id="21" name="Text 14"/>
          <p:cNvSpPr/>
          <p:nvPr/>
        </p:nvSpPr>
        <p:spPr>
          <a:xfrm>
            <a:off x="1417320" y="4069080"/>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General Response</a:t>
            </a:r>
            <a:endParaRPr lang="en-US" sz="1500" dirty="0"/>
          </a:p>
        </p:txBody>
      </p:sp>
      <p:sp>
        <p:nvSpPr>
          <p:cNvPr id="22" name="Text 15"/>
          <p:cNvSpPr/>
          <p:nvPr/>
        </p:nvSpPr>
        <p:spPr>
          <a:xfrm>
            <a:off x="1417320" y="4325112"/>
            <a:ext cx="4114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Handles greetings, off-topic queries, and fallback routing</a:t>
            </a:r>
            <a:endParaRPr lang="en-US" sz="1100" dirty="0"/>
          </a:p>
        </p:txBody>
      </p:sp>
      <p:sp>
        <p:nvSpPr>
          <p:cNvPr id="23" name="Shape 16"/>
          <p:cNvSpPr/>
          <p:nvPr/>
        </p:nvSpPr>
        <p:spPr>
          <a:xfrm>
            <a:off x="5943600" y="1097280"/>
            <a:ext cx="2926080" cy="3657600"/>
          </a:xfrm>
          <a:prstGeom prst="rect">
            <a:avLst/>
          </a:prstGeom>
          <a:solidFill>
            <a:srgbClr val="065A82">
              <a:alpha val="60000"/>
            </a:srgbClr>
          </a:solidFill>
          <a:ln/>
          <a:effectLst>
            <a:outerShdw sx="100000" sy="100000" kx="0" ky="0" algn="bl" rotWithShape="0" blurRad="101600" dist="38100" dir="8100000">
              <a:srgbClr val="000000">
                <a:alpha val="10000"/>
              </a:srgbClr>
            </a:outerShdw>
          </a:effectLst>
        </p:spPr>
      </p:sp>
      <p:sp>
        <p:nvSpPr>
          <p:cNvPr id="24" name="Text 17"/>
          <p:cNvSpPr/>
          <p:nvPr/>
        </p:nvSpPr>
        <p:spPr>
          <a:xfrm>
            <a:off x="6126480" y="1234440"/>
            <a:ext cx="2560320" cy="365760"/>
          </a:xfrm>
          <a:prstGeom prst="rect">
            <a:avLst/>
          </a:prstGeom>
          <a:noFill/>
          <a:ln/>
        </p:spPr>
        <p:txBody>
          <a:bodyPr wrap="square" lIns="0" tIns="0" rIns="0" bIns="0" rtlCol="0" anchor="ctr"/>
          <a:lstStyle/>
          <a:p>
            <a:pPr indent="0" marL="0">
              <a:buNone/>
            </a:pPr>
            <a:r>
              <a:rPr lang="en-US" sz="1600" b="1" dirty="0">
                <a:solidFill>
                  <a:srgbClr val="02C39A"/>
                </a:solidFill>
                <a:latin typeface="Trebuchet MS" pitchFamily="34" charset="0"/>
                <a:ea typeface="Trebuchet MS" pitchFamily="34" charset="-122"/>
                <a:cs typeface="Trebuchet MS" pitchFamily="34" charset="-120"/>
              </a:rPr>
              <a:t>How It Works</a:t>
            </a:r>
            <a:endParaRPr lang="en-US" sz="1600" dirty="0"/>
          </a:p>
        </p:txBody>
      </p:sp>
      <p:sp>
        <p:nvSpPr>
          <p:cNvPr id="25" name="Text 18"/>
          <p:cNvSpPr/>
          <p:nvPr/>
        </p:nvSpPr>
        <p:spPr>
          <a:xfrm>
            <a:off x="6126480" y="1737360"/>
            <a:ext cx="2560320" cy="2743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User sends a message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2. Intent Classifier analyzes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3. Orchestrator routes to agent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4. Agent processes with context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5. Response returned to user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p:bgPr>
    </p:bg>
    <p:spTree>
      <p:nvGrpSpPr>
        <p:cNvPr id="1" name=""/>
        <p:cNvGrpSpPr/>
        <p:nvPr/>
      </p:nvGrpSpPr>
      <p:grpSpPr>
        <a:xfrm>
          <a:off x="0" y="0"/>
          <a:ext cx="0" cy="0"/>
          <a:chOff x="0" y="0"/>
          <a:chExt cx="0" cy="0"/>
        </a:xfrm>
      </p:grpSpPr>
      <p:sp>
        <p:nvSpPr>
          <p:cNvPr id="2" name="Text 0"/>
          <p:cNvSpPr/>
          <p:nvPr/>
        </p:nvSpPr>
        <p:spPr>
          <a:xfrm>
            <a:off x="731520" y="274320"/>
            <a:ext cx="36576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Live Demo</a:t>
            </a:r>
            <a:endParaRPr lang="en-US" sz="3600" dirty="0"/>
          </a:p>
        </p:txBody>
      </p:sp>
      <p:sp>
        <p:nvSpPr>
          <p:cNvPr id="3" name="Shape 1"/>
          <p:cNvSpPr/>
          <p:nvPr/>
        </p:nvSpPr>
        <p:spPr>
          <a:xfrm>
            <a:off x="5029200" y="411480"/>
            <a:ext cx="1645920" cy="320040"/>
          </a:xfrm>
          <a:prstGeom prst="rect">
            <a:avLst/>
          </a:prstGeom>
          <a:solidFill>
            <a:srgbClr val="02C39A"/>
          </a:solidFill>
          <a:ln/>
        </p:spPr>
      </p:sp>
      <p:sp>
        <p:nvSpPr>
          <p:cNvPr id="4" name="Text 2"/>
          <p:cNvSpPr/>
          <p:nvPr/>
        </p:nvSpPr>
        <p:spPr>
          <a:xfrm>
            <a:off x="5029200" y="384048"/>
            <a:ext cx="1645920" cy="365760"/>
          </a:xfrm>
          <a:prstGeom prst="rect">
            <a:avLst/>
          </a:prstGeom>
          <a:noFill/>
          <a:ln/>
        </p:spPr>
        <p:txBody>
          <a:bodyPr wrap="square" lIns="0" tIns="0" rIns="0" bIns="0" rtlCol="0" anchor="ctr"/>
          <a:lstStyle/>
          <a:p>
            <a:pPr algn="ctr" indent="0" marL="0">
              <a:buNone/>
            </a:pPr>
            <a:r>
              <a:rPr lang="en-US" sz="1400" b="1" dirty="0">
                <a:solidFill>
                  <a:srgbClr val="0B1D2E"/>
                </a:solidFill>
                <a:latin typeface="Trebuchet MS" pitchFamily="34" charset="0"/>
                <a:ea typeface="Trebuchet MS" pitchFamily="34" charset="-122"/>
                <a:cs typeface="Trebuchet MS" pitchFamily="34" charset="-120"/>
              </a:rPr>
              <a:t>LIVE</a:t>
            </a:r>
            <a:endParaRPr lang="en-US" sz="1400" dirty="0"/>
          </a:p>
        </p:txBody>
      </p:sp>
      <p:sp>
        <p:nvSpPr>
          <p:cNvPr id="5" name="Text 3"/>
          <p:cNvSpPr/>
          <p:nvPr/>
        </p:nvSpPr>
        <p:spPr>
          <a:xfrm>
            <a:off x="731520" y="1188720"/>
            <a:ext cx="548640" cy="457200"/>
          </a:xfrm>
          <a:prstGeom prst="rect">
            <a:avLst/>
          </a:prstGeom>
          <a:noFill/>
          <a:ln/>
        </p:spPr>
        <p:txBody>
          <a:bodyPr wrap="square" lIns="0" tIns="0" rIns="0" bIns="0" rtlCol="0" anchor="ctr"/>
          <a:lstStyle/>
          <a:p>
            <a:pPr indent="0" marL="0">
              <a:buNone/>
            </a:pPr>
            <a:r>
              <a:rPr lang="en-US" sz="2400" b="1" dirty="0">
                <a:solidFill>
                  <a:srgbClr val="02C39A"/>
                </a:solidFill>
                <a:latin typeface="Trebuchet MS" pitchFamily="34" charset="0"/>
                <a:ea typeface="Trebuchet MS" pitchFamily="34" charset="-122"/>
                <a:cs typeface="Trebuchet MS" pitchFamily="34" charset="-120"/>
              </a:rPr>
              <a:t>01</a:t>
            </a:r>
            <a:endParaRPr lang="en-US" sz="2400" dirty="0"/>
          </a:p>
        </p:txBody>
      </p:sp>
      <p:sp>
        <p:nvSpPr>
          <p:cNvPr id="6" name="Text 4"/>
          <p:cNvSpPr/>
          <p:nvPr/>
        </p:nvSpPr>
        <p:spPr>
          <a:xfrm>
            <a:off x="1371600" y="114300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Product Discovery</a:t>
            </a:r>
            <a:endParaRPr lang="en-US" sz="1400" dirty="0"/>
          </a:p>
        </p:txBody>
      </p:sp>
      <p:sp>
        <p:nvSpPr>
          <p:cNvPr id="7" name="Text 5"/>
          <p:cNvSpPr/>
          <p:nvPr/>
        </p:nvSpPr>
        <p:spPr>
          <a:xfrm>
            <a:off x="1371600" y="1417320"/>
            <a:ext cx="3200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"Find budget smartphones under $500"</a:t>
            </a:r>
            <a:endParaRPr lang="en-US" sz="1100" dirty="0"/>
          </a:p>
        </p:txBody>
      </p:sp>
      <p:sp>
        <p:nvSpPr>
          <p:cNvPr id="8" name="Shape 6"/>
          <p:cNvSpPr/>
          <p:nvPr/>
        </p:nvSpPr>
        <p:spPr>
          <a:xfrm>
            <a:off x="5943600" y="1234440"/>
            <a:ext cx="2560320" cy="320040"/>
          </a:xfrm>
          <a:prstGeom prst="rect">
            <a:avLst/>
          </a:prstGeom>
          <a:solidFill>
            <a:srgbClr val="065A82"/>
          </a:solidFill>
          <a:ln/>
        </p:spPr>
      </p:sp>
      <p:sp>
        <p:nvSpPr>
          <p:cNvPr id="9" name="Text 7"/>
          <p:cNvSpPr/>
          <p:nvPr/>
        </p:nvSpPr>
        <p:spPr>
          <a:xfrm>
            <a:off x="5943600" y="1207008"/>
            <a:ext cx="2560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Recommendation Agent</a:t>
            </a:r>
            <a:endParaRPr lang="en-US" sz="1000" dirty="0"/>
          </a:p>
        </p:txBody>
      </p:sp>
      <p:sp>
        <p:nvSpPr>
          <p:cNvPr id="10" name="Text 8"/>
          <p:cNvSpPr/>
          <p:nvPr/>
        </p:nvSpPr>
        <p:spPr>
          <a:xfrm>
            <a:off x="731520" y="1920240"/>
            <a:ext cx="548640" cy="457200"/>
          </a:xfrm>
          <a:prstGeom prst="rect">
            <a:avLst/>
          </a:prstGeom>
          <a:noFill/>
          <a:ln/>
        </p:spPr>
        <p:txBody>
          <a:bodyPr wrap="square" lIns="0" tIns="0" rIns="0" bIns="0" rtlCol="0" anchor="ctr"/>
          <a:lstStyle/>
          <a:p>
            <a:pPr indent="0" marL="0">
              <a:buNone/>
            </a:pPr>
            <a:r>
              <a:rPr lang="en-US" sz="2400" b="1" dirty="0">
                <a:solidFill>
                  <a:srgbClr val="02C39A"/>
                </a:solidFill>
                <a:latin typeface="Trebuchet MS" pitchFamily="34" charset="0"/>
                <a:ea typeface="Trebuchet MS" pitchFamily="34" charset="-122"/>
                <a:cs typeface="Trebuchet MS" pitchFamily="34" charset="-120"/>
              </a:rPr>
              <a:t>02</a:t>
            </a:r>
            <a:endParaRPr lang="en-US" sz="2400" dirty="0"/>
          </a:p>
        </p:txBody>
      </p:sp>
      <p:sp>
        <p:nvSpPr>
          <p:cNvPr id="11" name="Text 9"/>
          <p:cNvSpPr/>
          <p:nvPr/>
        </p:nvSpPr>
        <p:spPr>
          <a:xfrm>
            <a:off x="1371600" y="187452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Review Summarization</a:t>
            </a:r>
            <a:endParaRPr lang="en-US" sz="1400" dirty="0"/>
          </a:p>
        </p:txBody>
      </p:sp>
      <p:sp>
        <p:nvSpPr>
          <p:cNvPr id="12" name="Text 10"/>
          <p:cNvSpPr/>
          <p:nvPr/>
        </p:nvSpPr>
        <p:spPr>
          <a:xfrm>
            <a:off x="1371600" y="2148840"/>
            <a:ext cx="3200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"Summarize reviews for iPhone 15"</a:t>
            </a:r>
            <a:endParaRPr lang="en-US" sz="1100" dirty="0"/>
          </a:p>
        </p:txBody>
      </p:sp>
      <p:sp>
        <p:nvSpPr>
          <p:cNvPr id="13" name="Shape 11"/>
          <p:cNvSpPr/>
          <p:nvPr/>
        </p:nvSpPr>
        <p:spPr>
          <a:xfrm>
            <a:off x="5943600" y="1965960"/>
            <a:ext cx="2560320" cy="320040"/>
          </a:xfrm>
          <a:prstGeom prst="rect">
            <a:avLst/>
          </a:prstGeom>
          <a:solidFill>
            <a:srgbClr val="065A82"/>
          </a:solidFill>
          <a:ln/>
        </p:spPr>
      </p:sp>
      <p:sp>
        <p:nvSpPr>
          <p:cNvPr id="14" name="Text 12"/>
          <p:cNvSpPr/>
          <p:nvPr/>
        </p:nvSpPr>
        <p:spPr>
          <a:xfrm>
            <a:off x="5943600" y="1938528"/>
            <a:ext cx="2560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Review Agent</a:t>
            </a:r>
            <a:endParaRPr lang="en-US" sz="1000" dirty="0"/>
          </a:p>
        </p:txBody>
      </p:sp>
      <p:sp>
        <p:nvSpPr>
          <p:cNvPr id="15" name="Text 13"/>
          <p:cNvSpPr/>
          <p:nvPr/>
        </p:nvSpPr>
        <p:spPr>
          <a:xfrm>
            <a:off x="731520" y="2651760"/>
            <a:ext cx="548640" cy="457200"/>
          </a:xfrm>
          <a:prstGeom prst="rect">
            <a:avLst/>
          </a:prstGeom>
          <a:noFill/>
          <a:ln/>
        </p:spPr>
        <p:txBody>
          <a:bodyPr wrap="square" lIns="0" tIns="0" rIns="0" bIns="0" rtlCol="0" anchor="ctr"/>
          <a:lstStyle/>
          <a:p>
            <a:pPr indent="0" marL="0">
              <a:buNone/>
            </a:pPr>
            <a:r>
              <a:rPr lang="en-US" sz="2400" b="1" dirty="0">
                <a:solidFill>
                  <a:srgbClr val="02C39A"/>
                </a:solidFill>
                <a:latin typeface="Trebuchet MS" pitchFamily="34" charset="0"/>
                <a:ea typeface="Trebuchet MS" pitchFamily="34" charset="-122"/>
                <a:cs typeface="Trebuchet MS" pitchFamily="34" charset="-120"/>
              </a:rPr>
              <a:t>03</a:t>
            </a:r>
            <a:endParaRPr lang="en-US" sz="2400" dirty="0"/>
          </a:p>
        </p:txBody>
      </p:sp>
      <p:sp>
        <p:nvSpPr>
          <p:cNvPr id="16" name="Text 14"/>
          <p:cNvSpPr/>
          <p:nvPr/>
        </p:nvSpPr>
        <p:spPr>
          <a:xfrm>
            <a:off x="1371600" y="260604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Price Comparison</a:t>
            </a:r>
            <a:endParaRPr lang="en-US" sz="1400" dirty="0"/>
          </a:p>
        </p:txBody>
      </p:sp>
      <p:sp>
        <p:nvSpPr>
          <p:cNvPr id="17" name="Text 15"/>
          <p:cNvSpPr/>
          <p:nvPr/>
        </p:nvSpPr>
        <p:spPr>
          <a:xfrm>
            <a:off x="1371600" y="2880360"/>
            <a:ext cx="3200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Samsung S24 vs Pixel 8"</a:t>
            </a:r>
            <a:endParaRPr lang="en-US" sz="1100" dirty="0"/>
          </a:p>
        </p:txBody>
      </p:sp>
      <p:sp>
        <p:nvSpPr>
          <p:cNvPr id="18" name="Shape 16"/>
          <p:cNvSpPr/>
          <p:nvPr/>
        </p:nvSpPr>
        <p:spPr>
          <a:xfrm>
            <a:off x="5943600" y="2697480"/>
            <a:ext cx="2560320" cy="320040"/>
          </a:xfrm>
          <a:prstGeom prst="rect">
            <a:avLst/>
          </a:prstGeom>
          <a:solidFill>
            <a:srgbClr val="065A82"/>
          </a:solidFill>
          <a:ln/>
        </p:spPr>
      </p:sp>
      <p:sp>
        <p:nvSpPr>
          <p:cNvPr id="19" name="Text 17"/>
          <p:cNvSpPr/>
          <p:nvPr/>
        </p:nvSpPr>
        <p:spPr>
          <a:xfrm>
            <a:off x="5943600" y="2670048"/>
            <a:ext cx="2560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Price Agent</a:t>
            </a:r>
            <a:endParaRPr lang="en-US" sz="1000" dirty="0"/>
          </a:p>
        </p:txBody>
      </p:sp>
      <p:sp>
        <p:nvSpPr>
          <p:cNvPr id="20" name="Text 18"/>
          <p:cNvSpPr/>
          <p:nvPr/>
        </p:nvSpPr>
        <p:spPr>
          <a:xfrm>
            <a:off x="731520" y="3383280"/>
            <a:ext cx="548640" cy="457200"/>
          </a:xfrm>
          <a:prstGeom prst="rect">
            <a:avLst/>
          </a:prstGeom>
          <a:noFill/>
          <a:ln/>
        </p:spPr>
        <p:txBody>
          <a:bodyPr wrap="square" lIns="0" tIns="0" rIns="0" bIns="0" rtlCol="0" anchor="ctr"/>
          <a:lstStyle/>
          <a:p>
            <a:pPr indent="0" marL="0">
              <a:buNone/>
            </a:pPr>
            <a:r>
              <a:rPr lang="en-US" sz="2400" b="1" dirty="0">
                <a:solidFill>
                  <a:srgbClr val="02C39A"/>
                </a:solidFill>
                <a:latin typeface="Trebuchet MS" pitchFamily="34" charset="0"/>
                <a:ea typeface="Trebuchet MS" pitchFamily="34" charset="-122"/>
                <a:cs typeface="Trebuchet MS" pitchFamily="34" charset="-120"/>
              </a:rPr>
              <a:t>04</a:t>
            </a:r>
            <a:endParaRPr lang="en-US" sz="2400" dirty="0"/>
          </a:p>
        </p:txBody>
      </p:sp>
      <p:sp>
        <p:nvSpPr>
          <p:cNvPr id="21" name="Text 19"/>
          <p:cNvSpPr/>
          <p:nvPr/>
        </p:nvSpPr>
        <p:spPr>
          <a:xfrm>
            <a:off x="1371600" y="333756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Policy Query</a:t>
            </a:r>
            <a:endParaRPr lang="en-US" sz="1400" dirty="0"/>
          </a:p>
        </p:txBody>
      </p:sp>
      <p:sp>
        <p:nvSpPr>
          <p:cNvPr id="22" name="Text 20"/>
          <p:cNvSpPr/>
          <p:nvPr/>
        </p:nvSpPr>
        <p:spPr>
          <a:xfrm>
            <a:off x="1371600" y="3611880"/>
            <a:ext cx="3200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"What's the return policy?"</a:t>
            </a:r>
            <a:endParaRPr lang="en-US" sz="1100" dirty="0"/>
          </a:p>
        </p:txBody>
      </p:sp>
      <p:sp>
        <p:nvSpPr>
          <p:cNvPr id="23" name="Shape 21"/>
          <p:cNvSpPr/>
          <p:nvPr/>
        </p:nvSpPr>
        <p:spPr>
          <a:xfrm>
            <a:off x="5943600" y="3429000"/>
            <a:ext cx="2560320" cy="320040"/>
          </a:xfrm>
          <a:prstGeom prst="rect">
            <a:avLst/>
          </a:prstGeom>
          <a:solidFill>
            <a:srgbClr val="065A82"/>
          </a:solidFill>
          <a:ln/>
        </p:spPr>
      </p:sp>
      <p:sp>
        <p:nvSpPr>
          <p:cNvPr id="24" name="Text 22"/>
          <p:cNvSpPr/>
          <p:nvPr/>
        </p:nvSpPr>
        <p:spPr>
          <a:xfrm>
            <a:off x="5943600" y="3401568"/>
            <a:ext cx="2560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Policy Agent (RAG)</a:t>
            </a:r>
            <a:endParaRPr lang="en-US" sz="1000" dirty="0"/>
          </a:p>
        </p:txBody>
      </p:sp>
      <p:sp>
        <p:nvSpPr>
          <p:cNvPr id="25" name="Text 23"/>
          <p:cNvSpPr/>
          <p:nvPr/>
        </p:nvSpPr>
        <p:spPr>
          <a:xfrm>
            <a:off x="731520" y="4114800"/>
            <a:ext cx="548640" cy="457200"/>
          </a:xfrm>
          <a:prstGeom prst="rect">
            <a:avLst/>
          </a:prstGeom>
          <a:noFill/>
          <a:ln/>
        </p:spPr>
        <p:txBody>
          <a:bodyPr wrap="square" lIns="0" tIns="0" rIns="0" bIns="0" rtlCol="0" anchor="ctr"/>
          <a:lstStyle/>
          <a:p>
            <a:pPr indent="0" marL="0">
              <a:buNone/>
            </a:pPr>
            <a:r>
              <a:rPr lang="en-US" sz="2400" b="1" dirty="0">
                <a:solidFill>
                  <a:srgbClr val="02C39A"/>
                </a:solidFill>
                <a:latin typeface="Trebuchet MS" pitchFamily="34" charset="0"/>
                <a:ea typeface="Trebuchet MS" pitchFamily="34" charset="-122"/>
                <a:cs typeface="Trebuchet MS" pitchFamily="34" charset="-120"/>
              </a:rPr>
              <a:t>05</a:t>
            </a:r>
            <a:endParaRPr lang="en-US" sz="2400" dirty="0"/>
          </a:p>
        </p:txBody>
      </p:sp>
      <p:sp>
        <p:nvSpPr>
          <p:cNvPr id="26" name="Text 24"/>
          <p:cNvSpPr/>
          <p:nvPr/>
        </p:nvSpPr>
        <p:spPr>
          <a:xfrm>
            <a:off x="1371600" y="406908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Multi-Turn Conversation</a:t>
            </a:r>
            <a:endParaRPr lang="en-US" sz="1400" dirty="0"/>
          </a:p>
        </p:txBody>
      </p:sp>
      <p:sp>
        <p:nvSpPr>
          <p:cNvPr id="27" name="Text 25"/>
          <p:cNvSpPr/>
          <p:nvPr/>
        </p:nvSpPr>
        <p:spPr>
          <a:xfrm>
            <a:off x="1371600" y="4343400"/>
            <a:ext cx="3200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Follow-up questions with context</a:t>
            </a:r>
            <a:endParaRPr lang="en-US" sz="1100" dirty="0"/>
          </a:p>
        </p:txBody>
      </p:sp>
      <p:sp>
        <p:nvSpPr>
          <p:cNvPr id="28" name="Shape 26"/>
          <p:cNvSpPr/>
          <p:nvPr/>
        </p:nvSpPr>
        <p:spPr>
          <a:xfrm>
            <a:off x="5943600" y="4160520"/>
            <a:ext cx="2560320" cy="320040"/>
          </a:xfrm>
          <a:prstGeom prst="rect">
            <a:avLst/>
          </a:prstGeom>
          <a:solidFill>
            <a:srgbClr val="065A82"/>
          </a:solidFill>
          <a:ln/>
        </p:spPr>
      </p:sp>
      <p:sp>
        <p:nvSpPr>
          <p:cNvPr id="29" name="Text 27"/>
          <p:cNvSpPr/>
          <p:nvPr/>
        </p:nvSpPr>
        <p:spPr>
          <a:xfrm>
            <a:off x="5943600" y="4133088"/>
            <a:ext cx="2560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Session Memory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Architecture</a:t>
            </a:r>
            <a:endParaRPr lang="en-US" sz="3600" dirty="0"/>
          </a:p>
        </p:txBody>
      </p:sp>
      <p:sp>
        <p:nvSpPr>
          <p:cNvPr id="3" name="Shape 1"/>
          <p:cNvSpPr/>
          <p:nvPr/>
        </p:nvSpPr>
        <p:spPr>
          <a:xfrm>
            <a:off x="731520" y="1188720"/>
            <a:ext cx="1645920" cy="548640"/>
          </a:xfrm>
          <a:prstGeom prst="rect">
            <a:avLst/>
          </a:prstGeom>
          <a:solidFill>
            <a:srgbClr val="0891B2"/>
          </a:solidFill>
          <a:ln/>
        </p:spPr>
      </p:sp>
      <p:sp>
        <p:nvSpPr>
          <p:cNvPr id="4" name="Text 2"/>
          <p:cNvSpPr/>
          <p:nvPr/>
        </p:nvSpPr>
        <p:spPr>
          <a:xfrm>
            <a:off x="731520" y="118872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Frontend</a:t>
            </a:r>
            <a:endParaRPr lang="en-US" sz="1200" dirty="0"/>
          </a:p>
        </p:txBody>
      </p:sp>
      <p:sp>
        <p:nvSpPr>
          <p:cNvPr id="5" name="Shape 3"/>
          <p:cNvSpPr/>
          <p:nvPr/>
        </p:nvSpPr>
        <p:spPr>
          <a:xfrm>
            <a:off x="2468880" y="1188720"/>
            <a:ext cx="6217920" cy="548640"/>
          </a:xfrm>
          <a:prstGeom prst="rect">
            <a:avLst/>
          </a:prstGeom>
          <a:solidFill>
            <a:srgbClr val="F0F7FA"/>
          </a:solidFill>
          <a:ln/>
        </p:spPr>
      </p:sp>
      <p:sp>
        <p:nvSpPr>
          <p:cNvPr id="6" name="Text 4"/>
          <p:cNvSpPr/>
          <p:nvPr/>
        </p:nvSpPr>
        <p:spPr>
          <a:xfrm>
            <a:off x="2743200" y="1188720"/>
            <a:ext cx="57607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Streamlit UI  |  Floating Chat Widget  |  Product Cards</a:t>
            </a:r>
            <a:endParaRPr lang="en-US" sz="1100" dirty="0"/>
          </a:p>
        </p:txBody>
      </p:sp>
      <p:sp>
        <p:nvSpPr>
          <p:cNvPr id="7" name="Shape 5"/>
          <p:cNvSpPr/>
          <p:nvPr/>
        </p:nvSpPr>
        <p:spPr>
          <a:xfrm>
            <a:off x="731520" y="1920240"/>
            <a:ext cx="1645920" cy="548640"/>
          </a:xfrm>
          <a:prstGeom prst="rect">
            <a:avLst/>
          </a:prstGeom>
          <a:solidFill>
            <a:srgbClr val="065A82"/>
          </a:solidFill>
          <a:ln/>
        </p:spPr>
      </p:sp>
      <p:sp>
        <p:nvSpPr>
          <p:cNvPr id="8" name="Text 6"/>
          <p:cNvSpPr/>
          <p:nvPr/>
        </p:nvSpPr>
        <p:spPr>
          <a:xfrm>
            <a:off x="731520" y="192024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API Layer</a:t>
            </a:r>
            <a:endParaRPr lang="en-US" sz="1200" dirty="0"/>
          </a:p>
        </p:txBody>
      </p:sp>
      <p:sp>
        <p:nvSpPr>
          <p:cNvPr id="9" name="Shape 7"/>
          <p:cNvSpPr/>
          <p:nvPr/>
        </p:nvSpPr>
        <p:spPr>
          <a:xfrm>
            <a:off x="2468880" y="1920240"/>
            <a:ext cx="6217920" cy="548640"/>
          </a:xfrm>
          <a:prstGeom prst="rect">
            <a:avLst/>
          </a:prstGeom>
          <a:solidFill>
            <a:srgbClr val="F0F7FA"/>
          </a:solidFill>
          <a:ln/>
        </p:spPr>
      </p:sp>
      <p:sp>
        <p:nvSpPr>
          <p:cNvPr id="10" name="Text 8"/>
          <p:cNvSpPr/>
          <p:nvPr/>
        </p:nvSpPr>
        <p:spPr>
          <a:xfrm>
            <a:off x="2743200" y="1920240"/>
            <a:ext cx="57607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FastAPI  |  REST Endpoints  |  Request Middleware  |  Error Handler</a:t>
            </a:r>
            <a:endParaRPr lang="en-US" sz="1100" dirty="0"/>
          </a:p>
        </p:txBody>
      </p:sp>
      <p:sp>
        <p:nvSpPr>
          <p:cNvPr id="11" name="Shape 9"/>
          <p:cNvSpPr/>
          <p:nvPr/>
        </p:nvSpPr>
        <p:spPr>
          <a:xfrm>
            <a:off x="731520" y="2651760"/>
            <a:ext cx="1645920" cy="548640"/>
          </a:xfrm>
          <a:prstGeom prst="rect">
            <a:avLst/>
          </a:prstGeom>
          <a:solidFill>
            <a:srgbClr val="059669"/>
          </a:solidFill>
          <a:ln/>
        </p:spPr>
      </p:sp>
      <p:sp>
        <p:nvSpPr>
          <p:cNvPr id="12" name="Text 10"/>
          <p:cNvSpPr/>
          <p:nvPr/>
        </p:nvSpPr>
        <p:spPr>
          <a:xfrm>
            <a:off x="731520" y="265176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AI Agents</a:t>
            </a:r>
            <a:endParaRPr lang="en-US" sz="1200" dirty="0"/>
          </a:p>
        </p:txBody>
      </p:sp>
      <p:sp>
        <p:nvSpPr>
          <p:cNvPr id="13" name="Shape 11"/>
          <p:cNvSpPr/>
          <p:nvPr/>
        </p:nvSpPr>
        <p:spPr>
          <a:xfrm>
            <a:off x="2468880" y="2651760"/>
            <a:ext cx="6217920" cy="548640"/>
          </a:xfrm>
          <a:prstGeom prst="rect">
            <a:avLst/>
          </a:prstGeom>
          <a:solidFill>
            <a:srgbClr val="F0F7FA"/>
          </a:solidFill>
          <a:ln/>
        </p:spPr>
      </p:sp>
      <p:sp>
        <p:nvSpPr>
          <p:cNvPr id="14" name="Text 12"/>
          <p:cNvSpPr/>
          <p:nvPr/>
        </p:nvSpPr>
        <p:spPr>
          <a:xfrm>
            <a:off x="2743200" y="2651760"/>
            <a:ext cx="57607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Orchestrator  →  Intent Classifier  →  5 Specialized Agents (pydantic-ai)</a:t>
            </a:r>
            <a:endParaRPr lang="en-US" sz="1100" dirty="0"/>
          </a:p>
        </p:txBody>
      </p:sp>
      <p:sp>
        <p:nvSpPr>
          <p:cNvPr id="15" name="Shape 13"/>
          <p:cNvSpPr/>
          <p:nvPr/>
        </p:nvSpPr>
        <p:spPr>
          <a:xfrm>
            <a:off x="731520" y="3383280"/>
            <a:ext cx="1645920" cy="548640"/>
          </a:xfrm>
          <a:prstGeom prst="rect">
            <a:avLst/>
          </a:prstGeom>
          <a:solidFill>
            <a:srgbClr val="7C3AED"/>
          </a:solidFill>
          <a:ln/>
        </p:spPr>
      </p:sp>
      <p:sp>
        <p:nvSpPr>
          <p:cNvPr id="16" name="Text 14"/>
          <p:cNvSpPr/>
          <p:nvPr/>
        </p:nvSpPr>
        <p:spPr>
          <a:xfrm>
            <a:off x="731520" y="338328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Data Layer</a:t>
            </a:r>
            <a:endParaRPr lang="en-US" sz="1200" dirty="0"/>
          </a:p>
        </p:txBody>
      </p:sp>
      <p:sp>
        <p:nvSpPr>
          <p:cNvPr id="17" name="Shape 15"/>
          <p:cNvSpPr/>
          <p:nvPr/>
        </p:nvSpPr>
        <p:spPr>
          <a:xfrm>
            <a:off x="2468880" y="3383280"/>
            <a:ext cx="6217920" cy="548640"/>
          </a:xfrm>
          <a:prstGeom prst="rect">
            <a:avLst/>
          </a:prstGeom>
          <a:solidFill>
            <a:srgbClr val="F0F7FA"/>
          </a:solidFill>
          <a:ln/>
        </p:spPr>
      </p:sp>
      <p:sp>
        <p:nvSpPr>
          <p:cNvPr id="18" name="Text 16"/>
          <p:cNvSpPr/>
          <p:nvPr/>
        </p:nvSpPr>
        <p:spPr>
          <a:xfrm>
            <a:off x="2743200" y="3383280"/>
            <a:ext cx="57607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PostgreSQL  |  Redis Cache  |  FAISS Vector Store  |  Session Store</a:t>
            </a:r>
            <a:endParaRPr lang="en-US" sz="1100" dirty="0"/>
          </a:p>
        </p:txBody>
      </p:sp>
      <p:sp>
        <p:nvSpPr>
          <p:cNvPr id="19" name="Shape 17"/>
          <p:cNvSpPr/>
          <p:nvPr/>
        </p:nvSpPr>
        <p:spPr>
          <a:xfrm>
            <a:off x="731520" y="4114800"/>
            <a:ext cx="1645920" cy="548640"/>
          </a:xfrm>
          <a:prstGeom prst="rect">
            <a:avLst/>
          </a:prstGeom>
          <a:solidFill>
            <a:srgbClr val="DC2626"/>
          </a:solidFill>
          <a:ln/>
        </p:spPr>
      </p:sp>
      <p:sp>
        <p:nvSpPr>
          <p:cNvPr id="20" name="Text 18"/>
          <p:cNvSpPr/>
          <p:nvPr/>
        </p:nvSpPr>
        <p:spPr>
          <a:xfrm>
            <a:off x="731520" y="4114800"/>
            <a:ext cx="16459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DevOps</a:t>
            </a:r>
            <a:endParaRPr lang="en-US" sz="1200" dirty="0"/>
          </a:p>
        </p:txBody>
      </p:sp>
      <p:sp>
        <p:nvSpPr>
          <p:cNvPr id="21" name="Shape 19"/>
          <p:cNvSpPr/>
          <p:nvPr/>
        </p:nvSpPr>
        <p:spPr>
          <a:xfrm>
            <a:off x="2468880" y="4114800"/>
            <a:ext cx="6217920" cy="548640"/>
          </a:xfrm>
          <a:prstGeom prst="rect">
            <a:avLst/>
          </a:prstGeom>
          <a:solidFill>
            <a:srgbClr val="F0F7FA"/>
          </a:solidFill>
          <a:ln/>
        </p:spPr>
      </p:sp>
      <p:sp>
        <p:nvSpPr>
          <p:cNvPr id="22" name="Text 20"/>
          <p:cNvSpPr/>
          <p:nvPr/>
        </p:nvSpPr>
        <p:spPr>
          <a:xfrm>
            <a:off x="2743200" y="4114800"/>
            <a:ext cx="57607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GitHub Actions CI/CD  |  Azure Container Apps  |  Bicep IaC  |  ACR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2E"/>
        </a:solidFill>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Technology Stack</a:t>
            </a:r>
            <a:endParaRPr lang="en-US" sz="3600" dirty="0"/>
          </a:p>
        </p:txBody>
      </p:sp>
      <p:sp>
        <p:nvSpPr>
          <p:cNvPr id="3" name="Shape 1"/>
          <p:cNvSpPr/>
          <p:nvPr/>
        </p:nvSpPr>
        <p:spPr>
          <a:xfrm>
            <a:off x="731520" y="1097280"/>
            <a:ext cx="411480" cy="411480"/>
          </a:xfrm>
          <a:prstGeom prst="ellipse">
            <a:avLst/>
          </a:prstGeom>
          <a:solidFill>
            <a:srgbClr val="065A82">
              <a:alpha val="60000"/>
            </a:srgbClr>
          </a:solidFill>
          <a:ln/>
        </p:spPr>
      </p:sp>
      <p:pic>
        <p:nvPicPr>
          <p:cNvPr id="4" name="Image 0" descr="preencoded.png"/>
          <p:cNvPicPr>
            <a:picLocks noChangeAspect="1"/>
          </p:cNvPicPr>
          <p:nvPr/>
        </p:nvPicPr>
        <p:blipFill>
          <a:blip r:embed="rId1"/>
          <a:stretch>
            <a:fillRect/>
          </a:stretch>
        </p:blipFill>
        <p:spPr>
          <a:xfrm>
            <a:off x="795528" y="1161288"/>
            <a:ext cx="283464" cy="283464"/>
          </a:xfrm>
          <a:prstGeom prst="rect">
            <a:avLst/>
          </a:prstGeom>
        </p:spPr>
      </p:pic>
      <p:sp>
        <p:nvSpPr>
          <p:cNvPr id="5" name="Text 2"/>
          <p:cNvSpPr/>
          <p:nvPr/>
        </p:nvSpPr>
        <p:spPr>
          <a:xfrm>
            <a:off x="1325880" y="105156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FastAPI 0.109</a:t>
            </a:r>
            <a:endParaRPr lang="en-US" sz="1400" dirty="0"/>
          </a:p>
        </p:txBody>
      </p:sp>
      <p:sp>
        <p:nvSpPr>
          <p:cNvPr id="6" name="Text 3"/>
          <p:cNvSpPr/>
          <p:nvPr/>
        </p:nvSpPr>
        <p:spPr>
          <a:xfrm>
            <a:off x="1325880" y="129844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High-performance async Python API</a:t>
            </a:r>
            <a:endParaRPr lang="en-US" sz="1000" dirty="0"/>
          </a:p>
        </p:txBody>
      </p:sp>
      <p:sp>
        <p:nvSpPr>
          <p:cNvPr id="7" name="Shape 4"/>
          <p:cNvSpPr/>
          <p:nvPr/>
        </p:nvSpPr>
        <p:spPr>
          <a:xfrm>
            <a:off x="4937760" y="1097280"/>
            <a:ext cx="411480" cy="411480"/>
          </a:xfrm>
          <a:prstGeom prst="ellipse">
            <a:avLst/>
          </a:prstGeom>
          <a:solidFill>
            <a:srgbClr val="065A82">
              <a:alpha val="60000"/>
            </a:srgbClr>
          </a:solidFill>
          <a:ln/>
        </p:spPr>
      </p:sp>
      <p:pic>
        <p:nvPicPr>
          <p:cNvPr id="8" name="Image 1" descr="preencoded.png"/>
          <p:cNvPicPr>
            <a:picLocks noChangeAspect="1"/>
          </p:cNvPicPr>
          <p:nvPr/>
        </p:nvPicPr>
        <p:blipFill>
          <a:blip r:embed="rId2"/>
          <a:stretch>
            <a:fillRect/>
          </a:stretch>
        </p:blipFill>
        <p:spPr>
          <a:xfrm>
            <a:off x="5001768" y="1161288"/>
            <a:ext cx="283464" cy="283464"/>
          </a:xfrm>
          <a:prstGeom prst="rect">
            <a:avLst/>
          </a:prstGeom>
        </p:spPr>
      </p:pic>
      <p:sp>
        <p:nvSpPr>
          <p:cNvPr id="9" name="Text 5"/>
          <p:cNvSpPr/>
          <p:nvPr/>
        </p:nvSpPr>
        <p:spPr>
          <a:xfrm>
            <a:off x="5532120" y="105156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pydantic-ai 1.61</a:t>
            </a:r>
            <a:endParaRPr lang="en-US" sz="1400" dirty="0"/>
          </a:p>
        </p:txBody>
      </p:sp>
      <p:sp>
        <p:nvSpPr>
          <p:cNvPr id="10" name="Text 6"/>
          <p:cNvSpPr/>
          <p:nvPr/>
        </p:nvSpPr>
        <p:spPr>
          <a:xfrm>
            <a:off x="5532120" y="129844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Type-safe AI agent framework</a:t>
            </a:r>
            <a:endParaRPr lang="en-US" sz="1000" dirty="0"/>
          </a:p>
        </p:txBody>
      </p:sp>
      <p:sp>
        <p:nvSpPr>
          <p:cNvPr id="11" name="Shape 7"/>
          <p:cNvSpPr/>
          <p:nvPr/>
        </p:nvSpPr>
        <p:spPr>
          <a:xfrm>
            <a:off x="731520" y="2057400"/>
            <a:ext cx="411480" cy="411480"/>
          </a:xfrm>
          <a:prstGeom prst="ellipse">
            <a:avLst/>
          </a:prstGeom>
          <a:solidFill>
            <a:srgbClr val="065A82">
              <a:alpha val="60000"/>
            </a:srgbClr>
          </a:solidFill>
          <a:ln/>
        </p:spPr>
      </p:sp>
      <p:pic>
        <p:nvPicPr>
          <p:cNvPr id="12" name="Image 2" descr="preencoded.png"/>
          <p:cNvPicPr>
            <a:picLocks noChangeAspect="1"/>
          </p:cNvPicPr>
          <p:nvPr/>
        </p:nvPicPr>
        <p:blipFill>
          <a:blip r:embed="rId3"/>
          <a:stretch>
            <a:fillRect/>
          </a:stretch>
        </p:blipFill>
        <p:spPr>
          <a:xfrm>
            <a:off x="795528" y="2121408"/>
            <a:ext cx="283464" cy="283464"/>
          </a:xfrm>
          <a:prstGeom prst="rect">
            <a:avLst/>
          </a:prstGeom>
        </p:spPr>
      </p:pic>
      <p:sp>
        <p:nvSpPr>
          <p:cNvPr id="13" name="Text 8"/>
          <p:cNvSpPr/>
          <p:nvPr/>
        </p:nvSpPr>
        <p:spPr>
          <a:xfrm>
            <a:off x="1325880" y="201168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GPT-4o-mini</a:t>
            </a:r>
            <a:endParaRPr lang="en-US" sz="1400" dirty="0"/>
          </a:p>
        </p:txBody>
      </p:sp>
      <p:sp>
        <p:nvSpPr>
          <p:cNvPr id="14" name="Text 9"/>
          <p:cNvSpPr/>
          <p:nvPr/>
        </p:nvSpPr>
        <p:spPr>
          <a:xfrm>
            <a:off x="1325880" y="225856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OpenAI model for all agents</a:t>
            </a:r>
            <a:endParaRPr lang="en-US" sz="1000" dirty="0"/>
          </a:p>
        </p:txBody>
      </p:sp>
      <p:sp>
        <p:nvSpPr>
          <p:cNvPr id="15" name="Shape 10"/>
          <p:cNvSpPr/>
          <p:nvPr/>
        </p:nvSpPr>
        <p:spPr>
          <a:xfrm>
            <a:off x="4937760" y="2057400"/>
            <a:ext cx="411480" cy="411480"/>
          </a:xfrm>
          <a:prstGeom prst="ellipse">
            <a:avLst/>
          </a:prstGeom>
          <a:solidFill>
            <a:srgbClr val="065A82">
              <a:alpha val="60000"/>
            </a:srgbClr>
          </a:solidFill>
          <a:ln/>
        </p:spPr>
      </p:sp>
      <p:pic>
        <p:nvPicPr>
          <p:cNvPr id="16" name="Image 3" descr="preencoded.png"/>
          <p:cNvPicPr>
            <a:picLocks noChangeAspect="1"/>
          </p:cNvPicPr>
          <p:nvPr/>
        </p:nvPicPr>
        <p:blipFill>
          <a:blip r:embed="rId4"/>
          <a:stretch>
            <a:fillRect/>
          </a:stretch>
        </p:blipFill>
        <p:spPr>
          <a:xfrm>
            <a:off x="5001768" y="2121408"/>
            <a:ext cx="283464" cy="283464"/>
          </a:xfrm>
          <a:prstGeom prst="rect">
            <a:avLst/>
          </a:prstGeom>
        </p:spPr>
      </p:pic>
      <p:sp>
        <p:nvSpPr>
          <p:cNvPr id="17" name="Text 11"/>
          <p:cNvSpPr/>
          <p:nvPr/>
        </p:nvSpPr>
        <p:spPr>
          <a:xfrm>
            <a:off x="5532120" y="201168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FAISS</a:t>
            </a:r>
            <a:endParaRPr lang="en-US" sz="1400" dirty="0"/>
          </a:p>
        </p:txBody>
      </p:sp>
      <p:sp>
        <p:nvSpPr>
          <p:cNvPr id="18" name="Text 12"/>
          <p:cNvSpPr/>
          <p:nvPr/>
        </p:nvSpPr>
        <p:spPr>
          <a:xfrm>
            <a:off x="5532120" y="225856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Vector similarity search for RAG</a:t>
            </a:r>
            <a:endParaRPr lang="en-US" sz="1000" dirty="0"/>
          </a:p>
        </p:txBody>
      </p:sp>
      <p:sp>
        <p:nvSpPr>
          <p:cNvPr id="19" name="Shape 13"/>
          <p:cNvSpPr/>
          <p:nvPr/>
        </p:nvSpPr>
        <p:spPr>
          <a:xfrm>
            <a:off x="731520" y="3017520"/>
            <a:ext cx="411480" cy="411480"/>
          </a:xfrm>
          <a:prstGeom prst="ellipse">
            <a:avLst/>
          </a:prstGeom>
          <a:solidFill>
            <a:srgbClr val="065A82">
              <a:alpha val="60000"/>
            </a:srgbClr>
          </a:solidFill>
          <a:ln/>
        </p:spPr>
      </p:sp>
      <p:pic>
        <p:nvPicPr>
          <p:cNvPr id="20" name="Image 4" descr="preencoded.png"/>
          <p:cNvPicPr>
            <a:picLocks noChangeAspect="1"/>
          </p:cNvPicPr>
          <p:nvPr/>
        </p:nvPicPr>
        <p:blipFill>
          <a:blip r:embed="rId5"/>
          <a:stretch>
            <a:fillRect/>
          </a:stretch>
        </p:blipFill>
        <p:spPr>
          <a:xfrm>
            <a:off x="795528" y="3081528"/>
            <a:ext cx="283464" cy="283464"/>
          </a:xfrm>
          <a:prstGeom prst="rect">
            <a:avLst/>
          </a:prstGeom>
        </p:spPr>
      </p:pic>
      <p:sp>
        <p:nvSpPr>
          <p:cNvPr id="21" name="Text 14"/>
          <p:cNvSpPr/>
          <p:nvPr/>
        </p:nvSpPr>
        <p:spPr>
          <a:xfrm>
            <a:off x="1325880" y="297180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PostgreSQL + Redis</a:t>
            </a:r>
            <a:endParaRPr lang="en-US" sz="1400" dirty="0"/>
          </a:p>
        </p:txBody>
      </p:sp>
      <p:sp>
        <p:nvSpPr>
          <p:cNvPr id="22" name="Text 15"/>
          <p:cNvSpPr/>
          <p:nvPr/>
        </p:nvSpPr>
        <p:spPr>
          <a:xfrm>
            <a:off x="1325880" y="321868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Relational DB + in-memory cache</a:t>
            </a:r>
            <a:endParaRPr lang="en-US" sz="1000" dirty="0"/>
          </a:p>
        </p:txBody>
      </p:sp>
      <p:sp>
        <p:nvSpPr>
          <p:cNvPr id="23" name="Shape 16"/>
          <p:cNvSpPr/>
          <p:nvPr/>
        </p:nvSpPr>
        <p:spPr>
          <a:xfrm>
            <a:off x="4937760" y="3017520"/>
            <a:ext cx="411480" cy="411480"/>
          </a:xfrm>
          <a:prstGeom prst="ellipse">
            <a:avLst/>
          </a:prstGeom>
          <a:solidFill>
            <a:srgbClr val="065A82">
              <a:alpha val="60000"/>
            </a:srgbClr>
          </a:solidFill>
          <a:ln/>
        </p:spPr>
      </p:sp>
      <p:pic>
        <p:nvPicPr>
          <p:cNvPr id="24" name="Image 5" descr="preencoded.png"/>
          <p:cNvPicPr>
            <a:picLocks noChangeAspect="1"/>
          </p:cNvPicPr>
          <p:nvPr/>
        </p:nvPicPr>
        <p:blipFill>
          <a:blip r:embed="rId6"/>
          <a:stretch>
            <a:fillRect/>
          </a:stretch>
        </p:blipFill>
        <p:spPr>
          <a:xfrm>
            <a:off x="5001768" y="3081528"/>
            <a:ext cx="283464" cy="283464"/>
          </a:xfrm>
          <a:prstGeom prst="rect">
            <a:avLst/>
          </a:prstGeom>
        </p:spPr>
      </p:pic>
      <p:sp>
        <p:nvSpPr>
          <p:cNvPr id="25" name="Text 17"/>
          <p:cNvSpPr/>
          <p:nvPr/>
        </p:nvSpPr>
        <p:spPr>
          <a:xfrm>
            <a:off x="5532120" y="297180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Azure Container Apps</a:t>
            </a:r>
            <a:endParaRPr lang="en-US" sz="1400" dirty="0"/>
          </a:p>
        </p:txBody>
      </p:sp>
      <p:sp>
        <p:nvSpPr>
          <p:cNvPr id="26" name="Text 18"/>
          <p:cNvSpPr/>
          <p:nvPr/>
        </p:nvSpPr>
        <p:spPr>
          <a:xfrm>
            <a:off x="5532120" y="321868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Serverless container hosting</a:t>
            </a:r>
            <a:endParaRPr lang="en-US" sz="1000" dirty="0"/>
          </a:p>
        </p:txBody>
      </p:sp>
      <p:sp>
        <p:nvSpPr>
          <p:cNvPr id="27" name="Shape 19"/>
          <p:cNvSpPr/>
          <p:nvPr/>
        </p:nvSpPr>
        <p:spPr>
          <a:xfrm>
            <a:off x="731520" y="3977640"/>
            <a:ext cx="411480" cy="411480"/>
          </a:xfrm>
          <a:prstGeom prst="ellipse">
            <a:avLst/>
          </a:prstGeom>
          <a:solidFill>
            <a:srgbClr val="065A82">
              <a:alpha val="60000"/>
            </a:srgbClr>
          </a:solidFill>
          <a:ln/>
        </p:spPr>
      </p:sp>
      <p:pic>
        <p:nvPicPr>
          <p:cNvPr id="28" name="Image 6" descr="preencoded.png"/>
          <p:cNvPicPr>
            <a:picLocks noChangeAspect="1"/>
          </p:cNvPicPr>
          <p:nvPr/>
        </p:nvPicPr>
        <p:blipFill>
          <a:blip r:embed="rId7"/>
          <a:stretch>
            <a:fillRect/>
          </a:stretch>
        </p:blipFill>
        <p:spPr>
          <a:xfrm>
            <a:off x="795528" y="4041648"/>
            <a:ext cx="283464" cy="283464"/>
          </a:xfrm>
          <a:prstGeom prst="rect">
            <a:avLst/>
          </a:prstGeom>
        </p:spPr>
      </p:pic>
      <p:sp>
        <p:nvSpPr>
          <p:cNvPr id="29" name="Text 20"/>
          <p:cNvSpPr/>
          <p:nvPr/>
        </p:nvSpPr>
        <p:spPr>
          <a:xfrm>
            <a:off x="1325880" y="393192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511+ Tests</a:t>
            </a:r>
            <a:endParaRPr lang="en-US" sz="1400" dirty="0"/>
          </a:p>
        </p:txBody>
      </p:sp>
      <p:sp>
        <p:nvSpPr>
          <p:cNvPr id="30" name="Text 21"/>
          <p:cNvSpPr/>
          <p:nvPr/>
        </p:nvSpPr>
        <p:spPr>
          <a:xfrm>
            <a:off x="1325880" y="417880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pytest suite with comprehensive coverage</a:t>
            </a:r>
            <a:endParaRPr lang="en-US" sz="1000" dirty="0"/>
          </a:p>
        </p:txBody>
      </p:sp>
      <p:sp>
        <p:nvSpPr>
          <p:cNvPr id="31" name="Shape 22"/>
          <p:cNvSpPr/>
          <p:nvPr/>
        </p:nvSpPr>
        <p:spPr>
          <a:xfrm>
            <a:off x="4937760" y="3977640"/>
            <a:ext cx="411480" cy="411480"/>
          </a:xfrm>
          <a:prstGeom prst="ellipse">
            <a:avLst/>
          </a:prstGeom>
          <a:solidFill>
            <a:srgbClr val="065A82">
              <a:alpha val="60000"/>
            </a:srgbClr>
          </a:solidFill>
          <a:ln/>
        </p:spPr>
      </p:sp>
      <p:pic>
        <p:nvPicPr>
          <p:cNvPr id="32" name="Image 7" descr="preencoded.png"/>
          <p:cNvPicPr>
            <a:picLocks noChangeAspect="1"/>
          </p:cNvPicPr>
          <p:nvPr/>
        </p:nvPicPr>
        <p:blipFill>
          <a:blip r:embed="rId8"/>
          <a:stretch>
            <a:fillRect/>
          </a:stretch>
        </p:blipFill>
        <p:spPr>
          <a:xfrm>
            <a:off x="5001768" y="4041648"/>
            <a:ext cx="283464" cy="283464"/>
          </a:xfrm>
          <a:prstGeom prst="rect">
            <a:avLst/>
          </a:prstGeom>
        </p:spPr>
      </p:pic>
      <p:sp>
        <p:nvSpPr>
          <p:cNvPr id="33" name="Text 23"/>
          <p:cNvSpPr/>
          <p:nvPr/>
        </p:nvSpPr>
        <p:spPr>
          <a:xfrm>
            <a:off x="5532120" y="393192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GitHub Actions</a:t>
            </a:r>
            <a:endParaRPr lang="en-US" sz="1400" dirty="0"/>
          </a:p>
        </p:txBody>
      </p:sp>
      <p:sp>
        <p:nvSpPr>
          <p:cNvPr id="34" name="Text 24"/>
          <p:cNvSpPr/>
          <p:nvPr/>
        </p:nvSpPr>
        <p:spPr>
          <a:xfrm>
            <a:off x="5532120" y="4178808"/>
            <a:ext cx="3200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CI/CD with staging &amp; production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A"/>
        </a:solidFill>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Success Metrics</a:t>
            </a:r>
            <a:endParaRPr lang="en-US" sz="3600" dirty="0"/>
          </a:p>
        </p:txBody>
      </p:sp>
      <p:sp>
        <p:nvSpPr>
          <p:cNvPr id="3" name="Shape 1"/>
          <p:cNvSpPr/>
          <p:nvPr/>
        </p:nvSpPr>
        <p:spPr>
          <a:xfrm>
            <a:off x="457200" y="1188720"/>
            <a:ext cx="1965960" cy="18288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 name="Text 2"/>
          <p:cNvSpPr/>
          <p:nvPr/>
        </p:nvSpPr>
        <p:spPr>
          <a:xfrm>
            <a:off x="457200" y="1371600"/>
            <a:ext cx="1965960" cy="640080"/>
          </a:xfrm>
          <a:prstGeom prst="rect">
            <a:avLst/>
          </a:prstGeom>
          <a:noFill/>
          <a:ln/>
        </p:spPr>
        <p:txBody>
          <a:bodyPr wrap="square" lIns="0" tIns="0" rIns="0" bIns="0" rtlCol="0" anchor="ctr"/>
          <a:lstStyle/>
          <a:p>
            <a:pPr algn="ctr" indent="0" marL="0">
              <a:buNone/>
            </a:pPr>
            <a:r>
              <a:rPr lang="en-US" sz="3600" b="1" dirty="0">
                <a:solidFill>
                  <a:srgbClr val="065A82"/>
                </a:solidFill>
                <a:latin typeface="Trebuchet MS" pitchFamily="34" charset="0"/>
                <a:ea typeface="Trebuchet MS" pitchFamily="34" charset="-122"/>
                <a:cs typeface="Trebuchet MS" pitchFamily="34" charset="-120"/>
              </a:rPr>
              <a:t>511+</a:t>
            </a:r>
            <a:endParaRPr lang="en-US" sz="3600" dirty="0"/>
          </a:p>
        </p:txBody>
      </p:sp>
      <p:sp>
        <p:nvSpPr>
          <p:cNvPr id="5" name="Text 3"/>
          <p:cNvSpPr/>
          <p:nvPr/>
        </p:nvSpPr>
        <p:spPr>
          <a:xfrm>
            <a:off x="457200" y="2011680"/>
            <a:ext cx="19659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Unit Tests</a:t>
            </a:r>
            <a:endParaRPr lang="en-US" sz="1400" dirty="0"/>
          </a:p>
        </p:txBody>
      </p:sp>
      <p:sp>
        <p:nvSpPr>
          <p:cNvPr id="6" name="Text 4"/>
          <p:cNvSpPr/>
          <p:nvPr/>
        </p:nvSpPr>
        <p:spPr>
          <a:xfrm>
            <a:off x="457200" y="2377440"/>
            <a:ext cx="196596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Comprehensive test coverage</a:t>
            </a:r>
            <a:endParaRPr lang="en-US" sz="1000" dirty="0"/>
          </a:p>
        </p:txBody>
      </p:sp>
      <p:sp>
        <p:nvSpPr>
          <p:cNvPr id="7" name="Shape 5"/>
          <p:cNvSpPr/>
          <p:nvPr/>
        </p:nvSpPr>
        <p:spPr>
          <a:xfrm>
            <a:off x="2651760" y="1188720"/>
            <a:ext cx="1965960" cy="18288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8" name="Text 6"/>
          <p:cNvSpPr/>
          <p:nvPr/>
        </p:nvSpPr>
        <p:spPr>
          <a:xfrm>
            <a:off x="2651760" y="1371600"/>
            <a:ext cx="1965960" cy="640080"/>
          </a:xfrm>
          <a:prstGeom prst="rect">
            <a:avLst/>
          </a:prstGeom>
          <a:noFill/>
          <a:ln/>
        </p:spPr>
        <p:txBody>
          <a:bodyPr wrap="square" lIns="0" tIns="0" rIns="0" bIns="0" rtlCol="0" anchor="ctr"/>
          <a:lstStyle/>
          <a:p>
            <a:pPr algn="ctr" indent="0" marL="0">
              <a:buNone/>
            </a:pPr>
            <a:r>
              <a:rPr lang="en-US" sz="3600" b="1" dirty="0">
                <a:solidFill>
                  <a:srgbClr val="065A82"/>
                </a:solidFill>
                <a:latin typeface="Trebuchet MS" pitchFamily="34" charset="0"/>
                <a:ea typeface="Trebuchet MS" pitchFamily="34" charset="-122"/>
                <a:cs typeface="Trebuchet MS" pitchFamily="34" charset="-120"/>
              </a:rPr>
              <a:t>29</a:t>
            </a:r>
            <a:endParaRPr lang="en-US" sz="3600" dirty="0"/>
          </a:p>
        </p:txBody>
      </p:sp>
      <p:sp>
        <p:nvSpPr>
          <p:cNvPr id="9" name="Text 7"/>
          <p:cNvSpPr/>
          <p:nvPr/>
        </p:nvSpPr>
        <p:spPr>
          <a:xfrm>
            <a:off x="2651760" y="2011680"/>
            <a:ext cx="19659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Stories Shipped</a:t>
            </a:r>
            <a:endParaRPr lang="en-US" sz="1400" dirty="0"/>
          </a:p>
        </p:txBody>
      </p:sp>
      <p:sp>
        <p:nvSpPr>
          <p:cNvPr id="10" name="Text 8"/>
          <p:cNvSpPr/>
          <p:nvPr/>
        </p:nvSpPr>
        <p:spPr>
          <a:xfrm>
            <a:off x="2651760" y="2377440"/>
            <a:ext cx="196596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Completed across 5 sprints</a:t>
            </a:r>
            <a:endParaRPr lang="en-US" sz="1000" dirty="0"/>
          </a:p>
        </p:txBody>
      </p:sp>
      <p:sp>
        <p:nvSpPr>
          <p:cNvPr id="11" name="Shape 9"/>
          <p:cNvSpPr/>
          <p:nvPr/>
        </p:nvSpPr>
        <p:spPr>
          <a:xfrm>
            <a:off x="4846320" y="1188720"/>
            <a:ext cx="1965960" cy="18288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Text 10"/>
          <p:cNvSpPr/>
          <p:nvPr/>
        </p:nvSpPr>
        <p:spPr>
          <a:xfrm>
            <a:off x="4846320" y="1371600"/>
            <a:ext cx="1965960" cy="640080"/>
          </a:xfrm>
          <a:prstGeom prst="rect">
            <a:avLst/>
          </a:prstGeom>
          <a:noFill/>
          <a:ln/>
        </p:spPr>
        <p:txBody>
          <a:bodyPr wrap="square" lIns="0" tIns="0" rIns="0" bIns="0" rtlCol="0" anchor="ctr"/>
          <a:lstStyle/>
          <a:p>
            <a:pPr algn="ctr" indent="0" marL="0">
              <a:buNone/>
            </a:pPr>
            <a:r>
              <a:rPr lang="en-US" sz="3600" b="1" dirty="0">
                <a:solidFill>
                  <a:srgbClr val="065A82"/>
                </a:solidFill>
                <a:latin typeface="Trebuchet MS" pitchFamily="34" charset="0"/>
                <a:ea typeface="Trebuchet MS" pitchFamily="34" charset="-122"/>
                <a:cs typeface="Trebuchet MS" pitchFamily="34" charset="-120"/>
              </a:rPr>
              <a:t>5</a:t>
            </a:r>
            <a:endParaRPr lang="en-US" sz="3600" dirty="0"/>
          </a:p>
        </p:txBody>
      </p:sp>
      <p:sp>
        <p:nvSpPr>
          <p:cNvPr id="13" name="Text 11"/>
          <p:cNvSpPr/>
          <p:nvPr/>
        </p:nvSpPr>
        <p:spPr>
          <a:xfrm>
            <a:off x="4846320" y="2011680"/>
            <a:ext cx="19659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AI Agents</a:t>
            </a:r>
            <a:endParaRPr lang="en-US" sz="1400" dirty="0"/>
          </a:p>
        </p:txBody>
      </p:sp>
      <p:sp>
        <p:nvSpPr>
          <p:cNvPr id="14" name="Text 12"/>
          <p:cNvSpPr/>
          <p:nvPr/>
        </p:nvSpPr>
        <p:spPr>
          <a:xfrm>
            <a:off x="4846320" y="2377440"/>
            <a:ext cx="196596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Specialized domain experts</a:t>
            </a:r>
            <a:endParaRPr lang="en-US" sz="1000" dirty="0"/>
          </a:p>
        </p:txBody>
      </p:sp>
      <p:sp>
        <p:nvSpPr>
          <p:cNvPr id="15" name="Shape 13"/>
          <p:cNvSpPr/>
          <p:nvPr/>
        </p:nvSpPr>
        <p:spPr>
          <a:xfrm>
            <a:off x="7040880" y="1188720"/>
            <a:ext cx="1965960" cy="18288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6" name="Text 14"/>
          <p:cNvSpPr/>
          <p:nvPr/>
        </p:nvSpPr>
        <p:spPr>
          <a:xfrm>
            <a:off x="7040880" y="1371600"/>
            <a:ext cx="1965960" cy="640080"/>
          </a:xfrm>
          <a:prstGeom prst="rect">
            <a:avLst/>
          </a:prstGeom>
          <a:noFill/>
          <a:ln/>
        </p:spPr>
        <p:txBody>
          <a:bodyPr wrap="square" lIns="0" tIns="0" rIns="0" bIns="0" rtlCol="0" anchor="ctr"/>
          <a:lstStyle/>
          <a:p>
            <a:pPr algn="ctr" indent="0" marL="0">
              <a:buNone/>
            </a:pPr>
            <a:r>
              <a:rPr lang="en-US" sz="2800" b="1" dirty="0">
                <a:solidFill>
                  <a:srgbClr val="065A82"/>
                </a:solidFill>
                <a:latin typeface="Trebuchet MS" pitchFamily="34" charset="0"/>
                <a:ea typeface="Trebuchet MS" pitchFamily="34" charset="-122"/>
                <a:cs typeface="Trebuchet MS" pitchFamily="34" charset="-120"/>
              </a:rPr>
              <a:t>&lt;200ms</a:t>
            </a:r>
            <a:endParaRPr lang="en-US" sz="2800" dirty="0"/>
          </a:p>
        </p:txBody>
      </p:sp>
      <p:sp>
        <p:nvSpPr>
          <p:cNvPr id="17" name="Text 15"/>
          <p:cNvSpPr/>
          <p:nvPr/>
        </p:nvSpPr>
        <p:spPr>
          <a:xfrm>
            <a:off x="7040880" y="2011680"/>
            <a:ext cx="196596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Avg Latency</a:t>
            </a:r>
            <a:endParaRPr lang="en-US" sz="1400" dirty="0"/>
          </a:p>
        </p:txBody>
      </p:sp>
      <p:sp>
        <p:nvSpPr>
          <p:cNvPr id="18" name="Text 16"/>
          <p:cNvSpPr/>
          <p:nvPr/>
        </p:nvSpPr>
        <p:spPr>
          <a:xfrm>
            <a:off x="7040880" y="2377440"/>
            <a:ext cx="196596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P95 response time</a:t>
            </a:r>
            <a:endParaRPr lang="en-US" sz="1000" dirty="0"/>
          </a:p>
        </p:txBody>
      </p:sp>
      <p:graphicFrame>
        <p:nvGraphicFramePr>
          <p:cNvPr id="19" name="Chart 0" descr=""/>
          <p:cNvGraphicFramePr/>
          <p:nvPr/>
        </p:nvGraphicFramePr>
        <p:xfrm>
          <a:off x="457200" y="3291840"/>
          <a:ext cx="8412480" cy="16459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Product Roadmap</a:t>
            </a:r>
            <a:endParaRPr lang="en-US" sz="3600" dirty="0"/>
          </a:p>
        </p:txBody>
      </p:sp>
      <p:sp>
        <p:nvSpPr>
          <p:cNvPr id="3" name="Shape 1"/>
          <p:cNvSpPr/>
          <p:nvPr/>
        </p:nvSpPr>
        <p:spPr>
          <a:xfrm>
            <a:off x="731520" y="1188720"/>
            <a:ext cx="1280160" cy="640080"/>
          </a:xfrm>
          <a:prstGeom prst="rect">
            <a:avLst/>
          </a:prstGeom>
          <a:solidFill>
            <a:srgbClr val="065A82"/>
          </a:solidFill>
          <a:ln/>
        </p:spPr>
      </p:sp>
      <p:sp>
        <p:nvSpPr>
          <p:cNvPr id="4" name="Text 2"/>
          <p:cNvSpPr/>
          <p:nvPr/>
        </p:nvSpPr>
        <p:spPr>
          <a:xfrm>
            <a:off x="731520" y="1188720"/>
            <a:ext cx="12801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 1</a:t>
            </a:r>
            <a:endParaRPr lang="en-US" sz="1100" dirty="0"/>
          </a:p>
        </p:txBody>
      </p:sp>
      <p:sp>
        <p:nvSpPr>
          <p:cNvPr id="5" name="Shape 3"/>
          <p:cNvSpPr/>
          <p:nvPr/>
        </p:nvSpPr>
        <p:spPr>
          <a:xfrm>
            <a:off x="2194560" y="1325880"/>
            <a:ext cx="1097280" cy="320040"/>
          </a:xfrm>
          <a:prstGeom prst="rect">
            <a:avLst/>
          </a:prstGeom>
          <a:solidFill>
            <a:srgbClr val="02C39A"/>
          </a:solidFill>
          <a:ln/>
        </p:spPr>
      </p:sp>
      <p:sp>
        <p:nvSpPr>
          <p:cNvPr id="6" name="Text 4"/>
          <p:cNvSpPr/>
          <p:nvPr/>
        </p:nvSpPr>
        <p:spPr>
          <a:xfrm>
            <a:off x="2194560" y="1298448"/>
            <a:ext cx="109728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COMPLETE</a:t>
            </a:r>
            <a:endParaRPr lang="en-US" sz="800" dirty="0"/>
          </a:p>
        </p:txBody>
      </p:sp>
      <p:sp>
        <p:nvSpPr>
          <p:cNvPr id="7" name="Text 5"/>
          <p:cNvSpPr/>
          <p:nvPr/>
        </p:nvSpPr>
        <p:spPr>
          <a:xfrm>
            <a:off x="3474720" y="1143000"/>
            <a:ext cx="502920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Foundation</a:t>
            </a:r>
            <a:endParaRPr lang="en-US" sz="1400" dirty="0"/>
          </a:p>
        </p:txBody>
      </p:sp>
      <p:sp>
        <p:nvSpPr>
          <p:cNvPr id="8" name="Text 6"/>
          <p:cNvSpPr/>
          <p:nvPr/>
        </p:nvSpPr>
        <p:spPr>
          <a:xfrm>
            <a:off x="3474720" y="1463040"/>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Product catalog, FastAPI, AI agents, Streamlit UI, E2E integration</a:t>
            </a:r>
            <a:endParaRPr lang="en-US" sz="1000" dirty="0"/>
          </a:p>
        </p:txBody>
      </p:sp>
      <p:sp>
        <p:nvSpPr>
          <p:cNvPr id="9" name="Shape 7"/>
          <p:cNvSpPr/>
          <p:nvPr/>
        </p:nvSpPr>
        <p:spPr>
          <a:xfrm>
            <a:off x="731520" y="2103120"/>
            <a:ext cx="1280160" cy="640080"/>
          </a:xfrm>
          <a:prstGeom prst="rect">
            <a:avLst/>
          </a:prstGeom>
          <a:solidFill>
            <a:srgbClr val="065A82"/>
          </a:solidFill>
          <a:ln/>
        </p:spPr>
      </p:sp>
      <p:sp>
        <p:nvSpPr>
          <p:cNvPr id="10" name="Text 8"/>
          <p:cNvSpPr/>
          <p:nvPr/>
        </p:nvSpPr>
        <p:spPr>
          <a:xfrm>
            <a:off x="731520" y="2103120"/>
            <a:ext cx="12801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 2</a:t>
            </a:r>
            <a:endParaRPr lang="en-US" sz="1100" dirty="0"/>
          </a:p>
        </p:txBody>
      </p:sp>
      <p:sp>
        <p:nvSpPr>
          <p:cNvPr id="11" name="Shape 9"/>
          <p:cNvSpPr/>
          <p:nvPr/>
        </p:nvSpPr>
        <p:spPr>
          <a:xfrm>
            <a:off x="2194560" y="2240280"/>
            <a:ext cx="1097280" cy="320040"/>
          </a:xfrm>
          <a:prstGeom prst="rect">
            <a:avLst/>
          </a:prstGeom>
          <a:solidFill>
            <a:srgbClr val="02C39A"/>
          </a:solidFill>
          <a:ln/>
        </p:spPr>
      </p:sp>
      <p:sp>
        <p:nvSpPr>
          <p:cNvPr id="12" name="Text 10"/>
          <p:cNvSpPr/>
          <p:nvPr/>
        </p:nvSpPr>
        <p:spPr>
          <a:xfrm>
            <a:off x="2194560" y="2212848"/>
            <a:ext cx="109728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COMPLETE</a:t>
            </a:r>
            <a:endParaRPr lang="en-US" sz="800" dirty="0"/>
          </a:p>
        </p:txBody>
      </p:sp>
      <p:sp>
        <p:nvSpPr>
          <p:cNvPr id="13" name="Text 11"/>
          <p:cNvSpPr/>
          <p:nvPr/>
        </p:nvSpPr>
        <p:spPr>
          <a:xfrm>
            <a:off x="3474720" y="2057400"/>
            <a:ext cx="502920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Intelligence</a:t>
            </a:r>
            <a:endParaRPr lang="en-US" sz="1400" dirty="0"/>
          </a:p>
        </p:txBody>
      </p:sp>
      <p:sp>
        <p:nvSpPr>
          <p:cNvPr id="14" name="Text 12"/>
          <p:cNvSpPr/>
          <p:nvPr/>
        </p:nvSpPr>
        <p:spPr>
          <a:xfrm>
            <a:off x="3474720" y="2377440"/>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Orchestrator, session memory, error handling, performance optimization</a:t>
            </a:r>
            <a:endParaRPr lang="en-US" sz="1000" dirty="0"/>
          </a:p>
        </p:txBody>
      </p:sp>
      <p:sp>
        <p:nvSpPr>
          <p:cNvPr id="15" name="Shape 13"/>
          <p:cNvSpPr/>
          <p:nvPr/>
        </p:nvSpPr>
        <p:spPr>
          <a:xfrm>
            <a:off x="731520" y="3017520"/>
            <a:ext cx="1280160" cy="640080"/>
          </a:xfrm>
          <a:prstGeom prst="rect">
            <a:avLst/>
          </a:prstGeom>
          <a:solidFill>
            <a:srgbClr val="065A82"/>
          </a:solidFill>
          <a:ln/>
        </p:spPr>
      </p:sp>
      <p:sp>
        <p:nvSpPr>
          <p:cNvPr id="16" name="Text 14"/>
          <p:cNvSpPr/>
          <p:nvPr/>
        </p:nvSpPr>
        <p:spPr>
          <a:xfrm>
            <a:off x="731520" y="3017520"/>
            <a:ext cx="12801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 3</a:t>
            </a:r>
            <a:endParaRPr lang="en-US" sz="1100" dirty="0"/>
          </a:p>
        </p:txBody>
      </p:sp>
      <p:sp>
        <p:nvSpPr>
          <p:cNvPr id="17" name="Shape 15"/>
          <p:cNvSpPr/>
          <p:nvPr/>
        </p:nvSpPr>
        <p:spPr>
          <a:xfrm>
            <a:off x="2194560" y="3154680"/>
            <a:ext cx="1097280" cy="320040"/>
          </a:xfrm>
          <a:prstGeom prst="rect">
            <a:avLst/>
          </a:prstGeom>
          <a:solidFill>
            <a:srgbClr val="02C39A"/>
          </a:solidFill>
          <a:ln/>
        </p:spPr>
      </p:sp>
      <p:sp>
        <p:nvSpPr>
          <p:cNvPr id="18" name="Text 16"/>
          <p:cNvSpPr/>
          <p:nvPr/>
        </p:nvSpPr>
        <p:spPr>
          <a:xfrm>
            <a:off x="2194560" y="3127248"/>
            <a:ext cx="109728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COMPLETE</a:t>
            </a:r>
            <a:endParaRPr lang="en-US" sz="800" dirty="0"/>
          </a:p>
        </p:txBody>
      </p:sp>
      <p:sp>
        <p:nvSpPr>
          <p:cNvPr id="19" name="Text 17"/>
          <p:cNvSpPr/>
          <p:nvPr/>
        </p:nvSpPr>
        <p:spPr>
          <a:xfrm>
            <a:off x="3474720" y="2971800"/>
            <a:ext cx="502920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Polish</a:t>
            </a:r>
            <a:endParaRPr lang="en-US" sz="1400" dirty="0"/>
          </a:p>
        </p:txBody>
      </p:sp>
      <p:sp>
        <p:nvSpPr>
          <p:cNvPr id="20" name="Text 18"/>
          <p:cNvSpPr/>
          <p:nvPr/>
        </p:nvSpPr>
        <p:spPr>
          <a:xfrm>
            <a:off x="3474720" y="3291840"/>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UI enhancements, inline reviews, product comparison, documentation</a:t>
            </a:r>
            <a:endParaRPr lang="en-US" sz="1000" dirty="0"/>
          </a:p>
        </p:txBody>
      </p:sp>
      <p:sp>
        <p:nvSpPr>
          <p:cNvPr id="21" name="Shape 19"/>
          <p:cNvSpPr/>
          <p:nvPr/>
        </p:nvSpPr>
        <p:spPr>
          <a:xfrm>
            <a:off x="731520" y="3931920"/>
            <a:ext cx="1280160" cy="640080"/>
          </a:xfrm>
          <a:prstGeom prst="rect">
            <a:avLst/>
          </a:prstGeom>
          <a:solidFill>
            <a:srgbClr val="065A82"/>
          </a:solidFill>
          <a:ln/>
        </p:spPr>
      </p:sp>
      <p:sp>
        <p:nvSpPr>
          <p:cNvPr id="22" name="Text 20"/>
          <p:cNvSpPr/>
          <p:nvPr/>
        </p:nvSpPr>
        <p:spPr>
          <a:xfrm>
            <a:off x="731520" y="3931920"/>
            <a:ext cx="12801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 4</a:t>
            </a:r>
            <a:endParaRPr lang="en-US" sz="1100" dirty="0"/>
          </a:p>
        </p:txBody>
      </p:sp>
      <p:sp>
        <p:nvSpPr>
          <p:cNvPr id="23" name="Shape 21"/>
          <p:cNvSpPr/>
          <p:nvPr/>
        </p:nvSpPr>
        <p:spPr>
          <a:xfrm>
            <a:off x="2194560" y="4069080"/>
            <a:ext cx="1097280" cy="320040"/>
          </a:xfrm>
          <a:prstGeom prst="rect">
            <a:avLst/>
          </a:prstGeom>
          <a:solidFill>
            <a:srgbClr val="02C39A"/>
          </a:solidFill>
          <a:ln/>
        </p:spPr>
      </p:sp>
      <p:sp>
        <p:nvSpPr>
          <p:cNvPr id="24" name="Text 22"/>
          <p:cNvSpPr/>
          <p:nvPr/>
        </p:nvSpPr>
        <p:spPr>
          <a:xfrm>
            <a:off x="2194560" y="4041648"/>
            <a:ext cx="109728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COMPLETE</a:t>
            </a:r>
            <a:endParaRPr lang="en-US" sz="800" dirty="0"/>
          </a:p>
        </p:txBody>
      </p:sp>
      <p:sp>
        <p:nvSpPr>
          <p:cNvPr id="25" name="Text 23"/>
          <p:cNvSpPr/>
          <p:nvPr/>
        </p:nvSpPr>
        <p:spPr>
          <a:xfrm>
            <a:off x="3474720" y="3886200"/>
            <a:ext cx="502920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Production &amp; Hardening</a:t>
            </a:r>
            <a:endParaRPr lang="en-US" sz="1400" dirty="0"/>
          </a:p>
        </p:txBody>
      </p:sp>
      <p:sp>
        <p:nvSpPr>
          <p:cNvPr id="26" name="Text 24"/>
          <p:cNvSpPr/>
          <p:nvPr/>
        </p:nvSpPr>
        <p:spPr>
          <a:xfrm>
            <a:off x="3474720" y="4206240"/>
            <a:ext cx="502920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CI/CD, Azure, logging, DB health, DRY refactor, SQL optimization, AI routing, error hardening</a:t>
            </a:r>
            <a:endParaRPr lang="en-US" sz="1000" dirty="0"/>
          </a:p>
        </p:txBody>
      </p:sp>
      <p:sp>
        <p:nvSpPr>
          <p:cNvPr id="27" name="Shape 25"/>
          <p:cNvSpPr/>
          <p:nvPr/>
        </p:nvSpPr>
        <p:spPr>
          <a:xfrm>
            <a:off x="1353312" y="1188720"/>
            <a:ext cx="36576" cy="3383280"/>
          </a:xfrm>
          <a:prstGeom prst="rect">
            <a:avLst/>
          </a:prstGeom>
          <a:solidFill>
            <a:srgbClr val="065A82">
              <a:alpha val="30000"/>
            </a:srgbClr>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A"/>
        </a:solidFill>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lIns="0" tIns="0" rIns="0" bIns="0" rtlCol="0" anchor="ctr"/>
          <a:lstStyle/>
          <a:p>
            <a:pPr indent="0" marL="0">
              <a:buNone/>
            </a:pPr>
            <a:r>
              <a:rPr lang="en-US" sz="3600" b="1" dirty="0">
                <a:solidFill>
                  <a:srgbClr val="065A82"/>
                </a:solidFill>
                <a:latin typeface="Trebuchet MS" pitchFamily="34" charset="0"/>
                <a:ea typeface="Trebuchet MS" pitchFamily="34" charset="-122"/>
                <a:cs typeface="Trebuchet MS" pitchFamily="34" charset="-120"/>
              </a:rPr>
              <a:t>Risk Mitigation</a:t>
            </a:r>
            <a:endParaRPr lang="en-US" sz="3600" dirty="0"/>
          </a:p>
        </p:txBody>
      </p:sp>
      <p:sp>
        <p:nvSpPr>
          <p:cNvPr id="3" name="Shape 1"/>
          <p:cNvSpPr/>
          <p:nvPr/>
        </p:nvSpPr>
        <p:spPr>
          <a:xfrm>
            <a:off x="731520" y="1143000"/>
            <a:ext cx="457200" cy="457200"/>
          </a:xfrm>
          <a:prstGeom prst="ellipse">
            <a:avLst/>
          </a:prstGeom>
          <a:solidFill>
            <a:srgbClr val="FFFFFF"/>
          </a:solidFill>
          <a:ln/>
        </p:spPr>
      </p:sp>
      <p:pic>
        <p:nvPicPr>
          <p:cNvPr id="4" name="Image 0" descr="preencoded.png"/>
          <p:cNvPicPr>
            <a:picLocks noChangeAspect="1"/>
          </p:cNvPicPr>
          <p:nvPr/>
        </p:nvPicPr>
        <p:blipFill>
          <a:blip r:embed="rId1"/>
          <a:stretch>
            <a:fillRect/>
          </a:stretch>
        </p:blipFill>
        <p:spPr>
          <a:xfrm>
            <a:off x="804672" y="1216152"/>
            <a:ext cx="310896" cy="310896"/>
          </a:xfrm>
          <a:prstGeom prst="rect">
            <a:avLst/>
          </a:prstGeom>
        </p:spPr>
      </p:pic>
      <p:sp>
        <p:nvSpPr>
          <p:cNvPr id="5" name="Text 2"/>
          <p:cNvSpPr/>
          <p:nvPr/>
        </p:nvSpPr>
        <p:spPr>
          <a:xfrm>
            <a:off x="1417320" y="1051560"/>
            <a:ext cx="2743200" cy="27432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LLM Reliability</a:t>
            </a:r>
            <a:endParaRPr lang="en-US" sz="1500" dirty="0"/>
          </a:p>
        </p:txBody>
      </p:sp>
      <p:sp>
        <p:nvSpPr>
          <p:cNvPr id="6" name="Text 3"/>
          <p:cNvSpPr/>
          <p:nvPr/>
        </p:nvSpPr>
        <p:spPr>
          <a:xfrm>
            <a:off x="1417320" y="1371600"/>
            <a:ext cx="713232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Circuit breaker pattern, graceful fallback to cached responses, usage limits on agent runs (15 requests max)</a:t>
            </a:r>
            <a:endParaRPr lang="en-US" sz="1100" dirty="0"/>
          </a:p>
        </p:txBody>
      </p:sp>
      <p:sp>
        <p:nvSpPr>
          <p:cNvPr id="7" name="Shape 4"/>
          <p:cNvSpPr/>
          <p:nvPr/>
        </p:nvSpPr>
        <p:spPr>
          <a:xfrm>
            <a:off x="731520" y="2057400"/>
            <a:ext cx="457200" cy="457200"/>
          </a:xfrm>
          <a:prstGeom prst="ellipse">
            <a:avLst/>
          </a:prstGeom>
          <a:solidFill>
            <a:srgbClr val="FFFFFF"/>
          </a:solidFill>
          <a:ln/>
        </p:spPr>
      </p:sp>
      <p:pic>
        <p:nvPicPr>
          <p:cNvPr id="8" name="Image 1" descr="preencoded.png"/>
          <p:cNvPicPr>
            <a:picLocks noChangeAspect="1"/>
          </p:cNvPicPr>
          <p:nvPr/>
        </p:nvPicPr>
        <p:blipFill>
          <a:blip r:embed="rId2"/>
          <a:stretch>
            <a:fillRect/>
          </a:stretch>
        </p:blipFill>
        <p:spPr>
          <a:xfrm>
            <a:off x="804672" y="2130552"/>
            <a:ext cx="310896" cy="310896"/>
          </a:xfrm>
          <a:prstGeom prst="rect">
            <a:avLst/>
          </a:prstGeom>
        </p:spPr>
      </p:pic>
      <p:sp>
        <p:nvSpPr>
          <p:cNvPr id="9" name="Text 5"/>
          <p:cNvSpPr/>
          <p:nvPr/>
        </p:nvSpPr>
        <p:spPr>
          <a:xfrm>
            <a:off x="1417320" y="1965960"/>
            <a:ext cx="2743200" cy="27432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Performance</a:t>
            </a:r>
            <a:endParaRPr lang="en-US" sz="1500" dirty="0"/>
          </a:p>
        </p:txBody>
      </p:sp>
      <p:sp>
        <p:nvSpPr>
          <p:cNvPr id="10" name="Text 6"/>
          <p:cNvSpPr/>
          <p:nvPr/>
        </p:nvSpPr>
        <p:spPr>
          <a:xfrm>
            <a:off x="1417320" y="2286000"/>
            <a:ext cx="713232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Redis + TTLCache dual-backend caching, query cache (24h TTL), LLM response cache, P50/P95 latency tracking</a:t>
            </a:r>
            <a:endParaRPr lang="en-US" sz="1100" dirty="0"/>
          </a:p>
        </p:txBody>
      </p:sp>
      <p:sp>
        <p:nvSpPr>
          <p:cNvPr id="11" name="Shape 7"/>
          <p:cNvSpPr/>
          <p:nvPr/>
        </p:nvSpPr>
        <p:spPr>
          <a:xfrm>
            <a:off x="731520" y="2971800"/>
            <a:ext cx="457200" cy="457200"/>
          </a:xfrm>
          <a:prstGeom prst="ellipse">
            <a:avLst/>
          </a:prstGeom>
          <a:solidFill>
            <a:srgbClr val="FFFFFF"/>
          </a:solidFill>
          <a:ln/>
        </p:spPr>
      </p:sp>
      <p:pic>
        <p:nvPicPr>
          <p:cNvPr id="12" name="Image 2" descr="preencoded.png"/>
          <p:cNvPicPr>
            <a:picLocks noChangeAspect="1"/>
          </p:cNvPicPr>
          <p:nvPr/>
        </p:nvPicPr>
        <p:blipFill>
          <a:blip r:embed="rId3"/>
          <a:stretch>
            <a:fillRect/>
          </a:stretch>
        </p:blipFill>
        <p:spPr>
          <a:xfrm>
            <a:off x="804672" y="3044952"/>
            <a:ext cx="310896" cy="310896"/>
          </a:xfrm>
          <a:prstGeom prst="rect">
            <a:avLst/>
          </a:prstGeom>
        </p:spPr>
      </p:pic>
      <p:sp>
        <p:nvSpPr>
          <p:cNvPr id="13" name="Text 8"/>
          <p:cNvSpPr/>
          <p:nvPr/>
        </p:nvSpPr>
        <p:spPr>
          <a:xfrm>
            <a:off x="1417320" y="2880360"/>
            <a:ext cx="2743200" cy="27432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Security</a:t>
            </a:r>
            <a:endParaRPr lang="en-US" sz="1500" dirty="0"/>
          </a:p>
        </p:txBody>
      </p:sp>
      <p:sp>
        <p:nvSpPr>
          <p:cNvPr id="14" name="Text 9"/>
          <p:cNvSpPr/>
          <p:nvPr/>
        </p:nvSpPr>
        <p:spPr>
          <a:xfrm>
            <a:off x="1417320" y="3200400"/>
            <a:ext cx="713232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Request ID correlation, structured error handling, no secrets in code, Azure Key Vault, managed identity</a:t>
            </a:r>
            <a:endParaRPr lang="en-US" sz="1100" dirty="0"/>
          </a:p>
        </p:txBody>
      </p:sp>
      <p:sp>
        <p:nvSpPr>
          <p:cNvPr id="15" name="Shape 10"/>
          <p:cNvSpPr/>
          <p:nvPr/>
        </p:nvSpPr>
        <p:spPr>
          <a:xfrm>
            <a:off x="731520" y="3886200"/>
            <a:ext cx="457200" cy="457200"/>
          </a:xfrm>
          <a:prstGeom prst="ellipse">
            <a:avLst/>
          </a:prstGeom>
          <a:solidFill>
            <a:srgbClr val="FFFFFF"/>
          </a:solidFill>
          <a:ln/>
        </p:spPr>
      </p:sp>
      <p:pic>
        <p:nvPicPr>
          <p:cNvPr id="16" name="Image 3" descr="preencoded.png"/>
          <p:cNvPicPr>
            <a:picLocks noChangeAspect="1"/>
          </p:cNvPicPr>
          <p:nvPr/>
        </p:nvPicPr>
        <p:blipFill>
          <a:blip r:embed="rId4"/>
          <a:stretch>
            <a:fillRect/>
          </a:stretch>
        </p:blipFill>
        <p:spPr>
          <a:xfrm>
            <a:off x="804672" y="3959352"/>
            <a:ext cx="310896" cy="310896"/>
          </a:xfrm>
          <a:prstGeom prst="rect">
            <a:avLst/>
          </a:prstGeom>
        </p:spPr>
      </p:pic>
      <p:sp>
        <p:nvSpPr>
          <p:cNvPr id="17" name="Text 11"/>
          <p:cNvSpPr/>
          <p:nvPr/>
        </p:nvSpPr>
        <p:spPr>
          <a:xfrm>
            <a:off x="1417320" y="3794760"/>
            <a:ext cx="2743200" cy="27432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Scalability</a:t>
            </a:r>
            <a:endParaRPr lang="en-US" sz="1500" dirty="0"/>
          </a:p>
        </p:txBody>
      </p:sp>
      <p:sp>
        <p:nvSpPr>
          <p:cNvPr id="18" name="Text 12"/>
          <p:cNvSpPr/>
          <p:nvPr/>
        </p:nvSpPr>
        <p:spPr>
          <a:xfrm>
            <a:off x="1417320" y="4114800"/>
            <a:ext cx="713232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Azure Container Apps auto-scaling (1-5 replicas), Redis-backed sessions, connection pooling, rolling deployments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2E"/>
        </a:solidFill>
      </p:bgPr>
    </p:bg>
    <p:spTree>
      <p:nvGrpSpPr>
        <p:cNvPr id="1" name=""/>
        <p:cNvGrpSpPr/>
        <p:nvPr/>
      </p:nvGrpSpPr>
      <p:grpSpPr>
        <a:xfrm>
          <a:off x="0" y="0"/>
          <a:ext cx="0" cy="0"/>
          <a:chOff x="0" y="0"/>
          <a:chExt cx="0" cy="0"/>
        </a:xfrm>
      </p:grpSpPr>
      <p:sp>
        <p:nvSpPr>
          <p:cNvPr id="2" name="Shape 0"/>
          <p:cNvSpPr/>
          <p:nvPr/>
        </p:nvSpPr>
        <p:spPr>
          <a:xfrm>
            <a:off x="-914400" y="2743200"/>
            <a:ext cx="3657600" cy="3657600"/>
          </a:xfrm>
          <a:prstGeom prst="ellipse">
            <a:avLst/>
          </a:prstGeom>
          <a:solidFill>
            <a:srgbClr val="065A82">
              <a:alpha val="50000"/>
            </a:srgbClr>
          </a:solidFill>
          <a:ln/>
        </p:spPr>
      </p:sp>
      <p:sp>
        <p:nvSpPr>
          <p:cNvPr id="3" name="Shape 1"/>
          <p:cNvSpPr/>
          <p:nvPr/>
        </p:nvSpPr>
        <p:spPr>
          <a:xfrm>
            <a:off x="6400800" y="-914400"/>
            <a:ext cx="4572000" cy="4572000"/>
          </a:xfrm>
          <a:prstGeom prst="ellipse">
            <a:avLst/>
          </a:prstGeom>
          <a:solidFill>
            <a:srgbClr val="1C7293">
              <a:alpha val="50000"/>
            </a:srgbClr>
          </a:solidFill>
          <a:ln/>
        </p:spPr>
      </p:sp>
      <p:pic>
        <p:nvPicPr>
          <p:cNvPr id="4" name="Image 0" descr="preencoded.png"/>
          <p:cNvPicPr>
            <a:picLocks noChangeAspect="1"/>
          </p:cNvPicPr>
          <p:nvPr/>
        </p:nvPicPr>
        <p:blipFill>
          <a:blip r:embed="rId1"/>
          <a:stretch>
            <a:fillRect/>
          </a:stretch>
        </p:blipFill>
        <p:spPr>
          <a:xfrm>
            <a:off x="3931920" y="731520"/>
            <a:ext cx="914400" cy="914400"/>
          </a:xfrm>
          <a:prstGeom prst="rect">
            <a:avLst/>
          </a:prstGeom>
        </p:spPr>
      </p:pic>
      <p:sp>
        <p:nvSpPr>
          <p:cNvPr id="5" name="Text 2"/>
          <p:cNvSpPr/>
          <p:nvPr/>
        </p:nvSpPr>
        <p:spPr>
          <a:xfrm>
            <a:off x="914400" y="1828800"/>
            <a:ext cx="73152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Thank You</a:t>
            </a:r>
            <a:endParaRPr lang="en-US" sz="4400" dirty="0"/>
          </a:p>
        </p:txBody>
      </p:sp>
      <p:sp>
        <p:nvSpPr>
          <p:cNvPr id="6" name="Text 3"/>
          <p:cNvSpPr/>
          <p:nvPr/>
        </p:nvSpPr>
        <p:spPr>
          <a:xfrm>
            <a:off x="914400" y="2651760"/>
            <a:ext cx="7315200" cy="548640"/>
          </a:xfrm>
          <a:prstGeom prst="rect">
            <a:avLst/>
          </a:prstGeom>
          <a:noFill/>
          <a:ln/>
        </p:spPr>
        <p:txBody>
          <a:bodyPr wrap="square" lIns="0" tIns="0" rIns="0" bIns="0" rtlCol="0" anchor="ctr"/>
          <a:lstStyle/>
          <a:p>
            <a:pPr algn="ctr" indent="0" marL="0">
              <a:buNone/>
            </a:pPr>
            <a:r>
              <a:rPr lang="en-US" sz="2000" dirty="0">
                <a:solidFill>
                  <a:srgbClr val="02C39A"/>
                </a:solidFill>
                <a:latin typeface="Calibri" pitchFamily="34" charset="0"/>
                <a:ea typeface="Calibri" pitchFamily="34" charset="-122"/>
                <a:cs typeface="Calibri" pitchFamily="34" charset="-120"/>
              </a:rPr>
              <a:t>Questions &amp; Discussion</a:t>
            </a:r>
            <a:endParaRPr lang="en-US" sz="2000" dirty="0"/>
          </a:p>
        </p:txBody>
      </p:sp>
      <p:sp>
        <p:nvSpPr>
          <p:cNvPr id="7" name="Shape 4"/>
          <p:cNvSpPr/>
          <p:nvPr/>
        </p:nvSpPr>
        <p:spPr>
          <a:xfrm>
            <a:off x="3657600" y="3383280"/>
            <a:ext cx="1828800" cy="36576"/>
          </a:xfrm>
          <a:prstGeom prst="rect">
            <a:avLst/>
          </a:prstGeom>
          <a:solidFill>
            <a:srgbClr val="02C39A"/>
          </a:solidFill>
          <a:ln/>
        </p:spPr>
      </p:sp>
      <p:sp>
        <p:nvSpPr>
          <p:cNvPr id="8" name="Text 5"/>
          <p:cNvSpPr/>
          <p:nvPr/>
        </p:nvSpPr>
        <p:spPr>
          <a:xfrm>
            <a:off x="914400" y="3657600"/>
            <a:ext cx="7315200" cy="731520"/>
          </a:xfrm>
          <a:prstGeom prst="rect">
            <a:avLst/>
          </a:prstGeom>
          <a:noFill/>
          <a:ln/>
        </p:spPr>
        <p:txBody>
          <a:bodyPr wrap="square" lIns="0" tIns="0" rIns="0" bIns="0" rtlCol="0" anchor="ctr"/>
          <a:lstStyle/>
          <a:p>
            <a:pPr algn="ctr" indent="0" marL="0">
              <a:buNone/>
            </a:pPr>
            <a:r>
              <a:rPr lang="en-US" sz="1400" b="1" dirty="0">
                <a:solidFill>
                  <a:srgbClr val="64748B"/>
                </a:solidFill>
                <a:latin typeface="Calibri" pitchFamily="34" charset="0"/>
                <a:ea typeface="Calibri" pitchFamily="34" charset="-122"/>
                <a:cs typeface="Calibri" pitchFamily="34" charset="-120"/>
              </a:rPr>
              <a:t>Dharmendra Verma</a:t>
            </a:r>
            <a:endParaRPr lang="en-US" sz="1400" dirty="0"/>
          </a:p>
          <a:p>
            <a:pPr algn="ctr" indent="0" marL="0">
              <a:buNone/>
            </a:pPr>
            <a:r>
              <a:rPr lang="en-US" sz="1200" dirty="0">
                <a:solidFill>
                  <a:srgbClr val="64748B"/>
                </a:solidFill>
                <a:latin typeface="Calibri" pitchFamily="34" charset="0"/>
                <a:ea typeface="Calibri" pitchFamily="34" charset="-122"/>
                <a:cs typeface="Calibri" pitchFamily="34" charset="-120"/>
              </a:rPr>
              <a:t>to.dharmendra.verma@gmail.com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SmartShop AI — Multi-Agent E-Commerce Assistant</dc:title>
  <dc:subject>PptxGenJS Presentation</dc:subject>
  <dc:creator>Dharmendra Verma</dc:creator>
  <cp:lastModifiedBy>Dharmendra Verma</cp:lastModifiedBy>
  <cp:revision>1</cp:revision>
  <dcterms:created xsi:type="dcterms:W3CDTF">2026-03-07T13:47:34Z</dcterms:created>
  <dcterms:modified xsi:type="dcterms:W3CDTF">2026-03-07T13:47:34Z</dcterms:modified>
</cp:coreProperties>
</file>